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외국인 근로자를 위한 바디캠 안전관리 에이전트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맑은 고딕"/>
              </a:rPr>
              <a:t>작업자가 평소처럼 착용하는 바디캠 하나로 위험 요소를 판정하고, 애매하면 재관측으로 재판단하며, 손동작 명령에 작업자 모국어로 답하는 피지컬 AI</a:t>
            </a:r>
          </a:p>
          <a:p/>
          <a:p>
            <a:r>
              <a:rPr sz="1800">
                <a:latin typeface="맑은 고딕"/>
              </a:rPr>
              <a:t>IBDP 팀 · 문상균, 이승혜, 조현준</a:t>
            </a:r>
          </a:p>
          <a:p>
            <a:r>
              <a:rPr sz="1800">
                <a:latin typeface="맑은 고딕"/>
              </a:rPr>
              <a:t>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51560"/>
            <a:ext cx="7589520" cy="4114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A6370"/>
                </a:solidFill>
                <a:latin typeface="맑은 고딕"/>
              </a:rPr>
              <a:t>제4회 경남AI·SW경진대회 · ③ 제조·피지컬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1. 문제: 눈으로 보고, 한국어로만 안내한다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21031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D93A3A"/>
                </a:solidFill>
                <a:latin typeface="맑은 고딕"/>
              </a:rPr>
              <a:t>25.2%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370"/>
                </a:solidFill>
                <a:latin typeface="맑은 고딕"/>
              </a:rPr>
              <a:t>2025년 사고재해자 113,305명 중 넘어짐 28,606명, 재해 유형 1위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(고용노동부 「2025년 산업재해 현황」)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3840480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84E92"/>
                </a:solidFill>
                <a:latin typeface="맑은 고딕"/>
              </a:rPr>
              <a:t>공장·창고의 위험 요소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바닥 유출 → 미끄러짐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통로에 방치된 공구·자재 → 걸려 넘어짐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불안정 적재 → 무너짐·맞음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쓰러지거나 가로막힌 소화기 → 화재 초기 대응 실패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6858000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84E92"/>
                </a:solidFill>
                <a:latin typeface="맑은 고딕"/>
              </a:rPr>
              <a:t>지금의 현장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194560"/>
            <a:ext cx="68580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놓치기 쉽다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작업자가 걸으며 눈으로만 확인. 잠깐 보고 지나친 것, 경로에서 먼 것은 빠짐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337560"/>
            <a:ext cx="68580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기록이 남지 않는다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무엇을 어디서 어떤 근거로 위험하다고 봤는지 남지 않아 조치 지시와 추적이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480560"/>
            <a:ext cx="68580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다가가는 순간을 모른다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작업자가 위험물 바로 옆을 지나가는 아차사고를 관리자가 알 수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623560"/>
            <a:ext cx="68580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한국어로만 안내된다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외국인 근로자는 표지판·방송을 알아듣지 못해 위험을 더 늦게 알아차림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2. 해결: 판정·경고하고 작업자 언어로 답하는 AI 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바디캠 하나로 위험/안전과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공구 이름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을 판정하고, 애매한 것은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'주의'로 분류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해 바디캠이 다시 지나칠 때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재판단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한다.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위험 영역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에 닿기 직전이면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음성으로 경고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하고, 작업자가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손가락 1~3개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를 보이면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작업자 언어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로 안내·호출·SOS 를 처리한다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11064240" cy="1787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① 판정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위험/안전 상태
공구 이름 8종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14016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② 재관측 재판단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'주의' 분류 →
재관측 시 LLM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3A3A"/>
                </a:solidFill>
                <a:latin typeface="맑은 고딕"/>
              </a:rPr>
              <a:t>③ 위험 영역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라바콘·DANGER 표지
스스로 판단한 주변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9B4DCA"/>
                </a:solidFill>
                <a:latin typeface="맑은 고딕"/>
              </a:rPr>
              <a:t>④ 음성 경고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위험 "멈추세요"
주의 "발밑 확인"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A7CC4"/>
                </a:solidFill>
                <a:latin typeface="맑은 고딕"/>
              </a:rPr>
              <a:t>⑤ 손동작 명령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손가락 1~3 → LLM 판단
중·영·일 음성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19" y="4434840"/>
            <a:ext cx="1773936" cy="16002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E9D5B"/>
                </a:solidFill>
                <a:latin typeface="맑은 고딕"/>
              </a:rPr>
              <a:t>⑥ 조치 지시서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우선순위·위치
영역 지도와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로봇 없이 작업자 바디캠(스피커)만으로 동작, 별도 CCTV 설비 불필요 · 위험 데이터는 디지털 트윈에서 합성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3. 에이전트 구조 (Goal · Plan · Reasoning · Tool · Memory · Feedback)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89464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5394960"/>
          <a:ext cx="1124711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19"/>
                <a:gridCol w="1874519"/>
                <a:gridCol w="187451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Goal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Planning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Reasoning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Tool Use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Memory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Feedback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판정, 위험 영역, 경고, 작업자 요청 응답, 조치 지시서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도면으로 점검표 8곳 계산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애매한 판정 2단계 분류, 공구 자리, 영역 설정, 경고 시점·톤, 손동작 → 명령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바디캠, 손 인식, LLM(Qwen2.5-7B)이 부르는 도구(매뉴얼 RAG 포함), 음성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위험물 대장, 위험 영역, 경고·요청 기록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주의 물체 재관측 재판단, 현장 확인 권고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4. 디지털 트윈과 학습 데이터</a:t>
            </a:r>
          </a:p>
        </p:txBody>
      </p:sp>
      <p:pic>
        <p:nvPicPr>
          <p:cNvPr id="3" name="Picture 2" descr="fig_z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43400"/>
            <a:ext cx="548640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NVIDIA Isaac Sim 6.0 실사 창고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NVIDIA 소품 (소화기, 표지판, 라바콘, 상자, 팔레트, 작업자)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Poly Haven 실물 스캔 공구 (CC0) + 직접 만든 전동톱, DANGER 표지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Replicator 로 정답 박스 자동 생성, 정답표로 채점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188720"/>
          <a:ext cx="53949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위험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안전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바닥 유출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조치 없음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표지판·라바콘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공구 8종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통로 바닥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작업대 위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적재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기울어짐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반듯함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소화기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쓰러짐 / 가로막힘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제자리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영역 표시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라바콘 링, DANGER 표지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3246120"/>
            <a:ext cx="5394960" cy="28346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합성 데이터 7700장 → YOLO26s 19 클래스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일반 촬영 5000장 + 공구 가까이 1500장 + 운반 카트 1200장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바디캠 70%·자유 시점 30%, 조명·흔들림 무작위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같은 종류를 위험/안전 상태로 함께 배치 → 상태를 학습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공구 8종·운반 카트는 종류로, 공구 위험/안전은 놓인 자리로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검증 mAP50 </a:t>
            </a:r>
            <a:r>
              <a:rPr sz="1300" b="1">
                <a:solidFill>
                  <a:srgbClr val="1E2430"/>
                </a:solidFill>
                <a:latin typeface="맑은 고딕"/>
              </a:rPr>
              <a:t>0.898</a:t>
            </a:r>
            <a:r>
              <a:rPr sz="1300" b="0">
                <a:solidFill>
                  <a:srgbClr val="1E2430"/>
                </a:solidFill>
                <a:latin typeface="맑은 고딕"/>
              </a:rPr>
              <a:t> (mAP50-95 0.689)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5. 핵심 구현 ①  판정, 위험 영역, 음성 경고</a:t>
            </a:r>
          </a:p>
        </p:txBody>
      </p:sp>
      <p:pic>
        <p:nvPicPr>
          <p:cNvPr id="3" name="Picture 2" descr="fig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577840" cy="3137535"/>
          </a:xfrm>
          <a:prstGeom prst="rect">
            <a:avLst/>
          </a:prstGeom>
        </p:spPr>
      </p:pic>
      <p:pic>
        <p:nvPicPr>
          <p:cNvPr id="4" name="Picture 3" descr="fig_zon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577840" cy="3137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557784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바디캠 판정 + 공구 이름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ByteTrack 추적으로 같은 물체 판정을 모아 3프레임이면 확정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공구는 망치·삽 등 이름까지, 놓인 자리로 위험(바닥)/안전(작업대)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박스를 바닥에 투영해 위치 → 위험물 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434840"/>
            <a:ext cx="557784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D93A3A"/>
                </a:solidFill>
                <a:latin typeface="맑은 고딕"/>
              </a:rPr>
              <a:t>위험 영역과 음성 경고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라바콘 2개 이상 묶음, DANGER 표지, 유출·불안정 적재 주변 → 영역 (소화기류 제외)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회피형 위험 1.5 m·영역 0.5 m 안 → 위험 "멈추세요!", 주의 "발밑을 확인하세요"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2 m 안은 경고 없이 근접만 기록, 오늘 작업 대상 물체는 경고 제외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6. 핵심 구현 ②  애매한 판정 2단계 분류와 재관측 재판단</a:t>
            </a:r>
          </a:p>
        </p:txBody>
      </p:sp>
      <p:pic>
        <p:nvPicPr>
          <p:cNvPr id="3" name="Picture 2" descr="fig_reju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5120640" cy="21031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즉시 분류 (규칙)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바디캠에 잠깐 보이거나 판정이 엇갈린 물체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후보 중 고위험 클래스가 하나라도 있으면 즉시 위험으로 확정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전부 저위험이면 '주의'로 분류 (안전·위험 미확정)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재관측 재판단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주의 물체를 바디캠이 같은 자리에서 다시 포착하면 트리거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로컬 LLM(LangGraph)이 이전+새 증거로 재판단, 실패하면 규칙 폴백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끝까지 안 보이면 주의 유지 → 조치 지시서에 현장 확인 권고</a:t>
            </a:r>
          </a:p>
        </p:txBody>
      </p:sp>
      <p:pic>
        <p:nvPicPr>
          <p:cNvPr id="5" name="Picture 4" descr="fig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5897880" cy="2801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080760"/>
            <a:ext cx="5897880" cy="4114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조치 지시서: 평면도(번호 = 우선순위, 빨간 영역 = 위험 영역), 조치 목록, 음성 경고 기록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7. 핵심 구현 ③  손동작 명령 → 작업자 언어 안내</a:t>
            </a:r>
          </a:p>
        </p:txBody>
      </p:sp>
      <p:pic>
        <p:nvPicPr>
          <p:cNvPr id="3" name="Picture 2" descr="fig_ges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74228" cy="1737360"/>
          </a:xfrm>
          <a:prstGeom prst="rect">
            <a:avLst/>
          </a:prstGeom>
        </p:spPr>
      </p:pic>
      <p:pic>
        <p:nvPicPr>
          <p:cNvPr id="4" name="Picture 3" descr="fig_ges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4572000" cy="2571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57800" y="3383280"/>
            <a:ext cx="3291840" cy="26974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어떻게 처리하나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MediaPipe 손 관절 21점 → 손가락 1~3, 멈춘 손에서 3번 연속이면 명령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LangGraph + 로컬 Qwen2.5-7B 가 도구 (화면 물체, 장비 정보, 위험물 대장, TBM) 로 보고 무엇을 말할지·근거 결정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말은 검수한 4개 언어 문장 틀 (번역기는 '안전화→seat belt' 처럼 틀림)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3383280"/>
            <a:ext cx="2971800" cy="26974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결과</a:t>
            </a:r>
          </a:p>
          <a:p>
            <a:pPr>
              <a:spcAft>
                <a:spcPts val="400"/>
              </a:spcAft>
            </a:pPr>
            <a:r>
              <a:rPr sz="3000" b="1">
                <a:solidFill>
                  <a:srgbClr val="1E2430"/>
                </a:solidFill>
                <a:latin typeface="맑은 고딕"/>
              </a:rPr>
              <a:t>21/24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경로 8곳·조명 바꿔 손가락 1~3, 다른 명령 2번, 움직이는 손 잘못 실행 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시연 0/0 · 중·영·일 · LLM 결정 0/0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시연 영상 (2분 40초): TBM(2) → 순찰·판정 → 운반 카트 설명(1) → 상자 싣고 끌기 → 관리자 호출·SOS(3) → 조치 지시서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8. 성과: 학습에 안 쓴 시나리오 5개, 정답표 채점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6766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창고 전체 물체 기준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바디캠 프레임 원시판정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위험 물체를 위험으로 (47개)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40 (85%)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E2430"/>
                          </a:solidFill>
                          <a:latin typeface="맑은 고딕"/>
                        </a:rPr>
                        <a:t>34 (72%)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안전 물체를 안전으로 (40개)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29 (72%)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E2430"/>
                          </a:solidFill>
                          <a:latin typeface="맑은 고딕"/>
                        </a:rPr>
                        <a:t>12 (30%)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위험↔안전 거꾸로 판정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없는 위험 판정 (박스 수 / 보고 건수)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23개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14건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현장 확인 요청 (실제 물체)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12 (12)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3192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새 기능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위험 영역 (라바콘·DANGER 표지) 인식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10/10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(100%)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에이전트가 판단한 위험 영역 (실제 위험 주변)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26 (23)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닿기 직전 사건에 음성 경고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13/20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(65%)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공구 이름 맞힘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0/36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(0%)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손동작 명령 인식 (손가락 1~3)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21/24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(88%)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3444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애매한 판정과 재판단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애매한 판정 59건: 즉시 위험 확정 20, 주의 분류 39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주의 재관측 재판단 54건 중 확정 전환 17 (맞게 고침 16)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끝까지 재관측 안 되면 '주의' 유지 → 현장 확인 권고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840480"/>
            <a:ext cx="4114800" cy="2286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3A3A"/>
                </a:solidFill>
                <a:latin typeface="맑은 고딕"/>
              </a:rPr>
              <a:t>점검표</a:t>
            </a:r>
          </a:p>
          <a:p>
            <a:pPr>
              <a:spcAft>
                <a:spcPts val="400"/>
              </a:spcAft>
            </a:pPr>
            <a:r>
              <a:rPr sz="3000" b="1">
                <a:solidFill>
                  <a:srgbClr val="1E2430"/>
                </a:solidFill>
                <a:latin typeface="맑은 고딕"/>
              </a:rPr>
              <a:t>12 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현장 확인 요청 (실제 물체 12건)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맑은 고딕"/>
              </a:rPr>
              <a:t>9. 한계, 발전 계획, 비즈니스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93A3A"/>
                </a:solidFill>
                <a:latin typeface="맑은 고딕"/>
              </a:rPr>
              <a:t>한계 (현장 적용 전 보완점)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합성 데이터만 사용, 실사 미검증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작은 공구를 놓침 (못 찾은 위험 13개 중 12개가 바닥 공구)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Isaac 6.0.1 torch 가 CPU 전용이라 시뮬 안 YOLO 는 CPU (실배치는 GPU·엣지)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영역 크기·경고 거리·즉시 분류 기준은 규칙 (재판단만 LLM)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손동작은 시뮬 맨손만, 다국어 음성은 온라인 TTS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움직이는 위험(지게차)은 위치추적 태그(RTLS/UWB) 개념으로 접근만 감지, 영상 인식은 아직 없음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발전 계획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1단계 실사 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실습실·창고 사진으로 미세조정, 실제 라바콘·표지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2단계 파일럿 (Level 4)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바디캠(스피커) 현장 시험, 재관측 재판단 기준 보정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3단계 연동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MES·작업지시 연동, 조치 완료 피드백으로 기준 보정, 지게차 영상 인식 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E9D5B"/>
                </a:solidFill>
                <a:latin typeface="맑은 고딕"/>
              </a:rPr>
              <a:t>비즈니스 모델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대상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중소 물류창고·제조공장 (사고재해 40%가 5~49인 사업장)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제공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작업자 바디캠에 붙이는 소프트웨어 구독, 별도 CCTV 설비 불필요 (사업장·인원 수 기준)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차별점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현장 표시(라바콘·표지)를 그대로 위험 영역으로 읽고, 디지털 트윈으로 그 현장 데이터를 만들어 학습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기대효과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점검 누락·기록 공백 감소, 닿기 전 경고로 아차사고 예방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소스코드 https://github.com/HardLeona/factory-safety-isaac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