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9"/>
  </p:notesMasterIdLst>
  <p:sldIdLst>
    <p:sldId id="256" r:id="rId8"/>
    <p:sldId id="257" r:id="rId7"/>
    <p:sldId id="258" r:id="rId6"/>
    <p:sldId id="259" r:id="rId5"/>
    <p:sldId id="260" r:id="rId15"/>
    <p:sldId id="261" r:id="rId16"/>
    <p:sldId id="262" r:id="rId17"/>
    <p:sldId id="263" r:id="rId18"/>
    <p:sldId id="264" r:id="rId19"/>
    <p:sldId id="265" r:id="rId2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안진수" initials="안" lastIdx="1" clrIdx="0">
    <p:extLst>
      <p:ext uri="{19B8F6BF-5375-455C-9EA6-DF929625EA0E}">
        <p15:presenceInfo xmlns:p15="http://schemas.microsoft.com/office/powerpoint/2012/main" userId="S-1-5-21-3955691086-1346294097-4221883339-1001" providerId="AD"/>
      </p:ext>
    </p:extLst>
  </p:cmAuthor>
  <p:cmAuthor id="2" name="안진수" initials="안 [2]" lastIdx="1" clrIdx="1">
    <p:extLst>
      <p:ext uri="{19B8F6BF-5375-455C-9EA6-DF929625EA0E}">
        <p15:presenceInfo xmlns:p15="http://schemas.microsoft.com/office/powerpoint/2012/main" userId="S-1-5-21-3734627168-4085426799-134375040-100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CC583"/>
    <a:srgbClr val="FFF2CC"/>
    <a:srgbClr val="BDD7EE"/>
    <a:srgbClr val="FFF2E5"/>
    <a:srgbClr val="C5E0B4"/>
    <a:srgbClr val="DE84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A111915-BE36-4E01-A7E5-04B1672EAD32}" styleName="밝은 스타일 2 - 강조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98" autoAdjust="0"/>
    <p:restoredTop sz="94660"/>
  </p:normalViewPr>
  <p:slideViewPr>
    <p:cSldViewPr snapToGrid="0">
      <p:cViewPr varScale="1">
        <p:scale>
          <a:sx n="160" d="100"/>
          <a:sy n="160" d="100"/>
        </p:scale>
        <p:origin x="104" y="16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124" d="100"/>
          <a:sy n="124" d="100"/>
        </p:scale>
        <p:origin x="4104" y="8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2.xml"/><Relationship Id="rId8" Type="http://schemas.openxmlformats.org/officeDocument/2006/relationships/slide" Target="slides/slide1.xml"/><Relationship Id="rId9" Type="http://schemas.openxmlformats.org/officeDocument/2006/relationships/notesMaster" Target="notesMasters/notesMaster1.xml"/><Relationship Id="rId10" Type="http://schemas.openxmlformats.org/officeDocument/2006/relationships/commentAuthors" Target="commentAuthors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12FCC-E7C2-44E7-BC79-BEC4425EC29F}" type="datetimeFigureOut">
              <a:rPr lang="ko-KR" altLang="en-US" smtClean="0"/>
              <a:t>07-03(Fri)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AED80F-9EB0-418B-B195-38499BCA38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19325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17F5A8-C999-96AA-83C8-D1FB8EDB97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800">
                <a:solidFill>
                  <a:srgbClr val="274C92"/>
                </a:solidFill>
                <a:latin typeface="+mj-lt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074DD9-A09E-85EA-ADFE-6231AFEADE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02D652-E551-7F60-6FB6-1978794A81E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en-US" altLang="ko-KR"/>
              <a:t>7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6858968-C259-0919-9FA4-066E31710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80163" y="6460057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28C4F1-CE06-DE21-2147-0C51F80A4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EA8431-3640-4575-ABAE-11276775A2BC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그림 19" descr="C:/Users/USER/AppData/Roaming/PolarisOffice/ETemp/1604_13551552/fImage56966786500.png">
            <a:extLst>
              <a:ext uri="{FF2B5EF4-FFF2-40B4-BE49-F238E27FC236}">
                <a16:creationId xmlns:a16="http://schemas.microsoft.com/office/drawing/2014/main" id="{EED45917-54A3-F40F-CC0C-4A2B7C9565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270" y="6492875"/>
            <a:ext cx="368935" cy="382904"/>
          </a:xfrm>
          <a:prstGeom prst="rect">
            <a:avLst/>
          </a:prstGeom>
          <a:noFill/>
        </p:spPr>
      </p:pic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90E14C4-0547-821F-272E-FA98630D8E33}"/>
              </a:ext>
            </a:extLst>
          </p:cNvPr>
          <p:cNvCxnSpPr>
            <a:cxnSpLocks/>
          </p:cNvCxnSpPr>
          <p:nvPr userDrawn="1"/>
        </p:nvCxnSpPr>
        <p:spPr>
          <a:xfrm>
            <a:off x="11764488" y="6514784"/>
            <a:ext cx="0" cy="343216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31851F4-D407-484D-84BD-F09E883F71FD}"/>
              </a:ext>
            </a:extLst>
          </p:cNvPr>
          <p:cNvSpPr/>
          <p:nvPr userDrawn="1"/>
        </p:nvSpPr>
        <p:spPr>
          <a:xfrm>
            <a:off x="-1270" y="6532563"/>
            <a:ext cx="12192000" cy="343216"/>
          </a:xfrm>
          <a:prstGeom prst="rect">
            <a:avLst/>
          </a:prstGeom>
          <a:solidFill>
            <a:srgbClr val="274C9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800" b="1" i="1" dirty="0">
                <a:solidFill>
                  <a:schemeClr val="bg1"/>
                </a:solidFill>
                <a:latin typeface="맑은 고딕" charset="0"/>
                <a:ea typeface="맑은 고딕" charset="0"/>
              </a:rPr>
              <a:t>     </a:t>
            </a:r>
            <a:r>
              <a:rPr lang="ko-KR" altLang="ko-KR" sz="1800" b="1" i="1" dirty="0">
                <a:solidFill>
                  <a:schemeClr val="bg1"/>
                </a:solidFill>
                <a:latin typeface="맑은 고딕" charset="0"/>
                <a:ea typeface="맑은 고딕" charset="0"/>
              </a:rPr>
              <a:t>IBDP </a:t>
            </a:r>
            <a:r>
              <a:rPr lang="ko-KR" altLang="ko-KR" sz="1800" b="1" i="1" dirty="0" err="1">
                <a:solidFill>
                  <a:schemeClr val="bg1"/>
                </a:solidFill>
                <a:latin typeface="맑은 고딕" charset="0"/>
                <a:ea typeface="맑은 고딕" charset="0"/>
              </a:rPr>
              <a:t>Lab</a:t>
            </a:r>
            <a:r>
              <a:rPr lang="ko-KR" altLang="ko-KR" sz="1800" i="1" dirty="0">
                <a:solidFill>
                  <a:schemeClr val="bg1"/>
                </a:solidFill>
                <a:latin typeface="맑은 고딕" charset="0"/>
                <a:ea typeface="맑은 고딕" charset="0"/>
              </a:rPr>
              <a:t> </a:t>
            </a:r>
            <a:r>
              <a:rPr lang="ko-KR" altLang="ko-KR" sz="1800" b="1" i="1" dirty="0">
                <a:solidFill>
                  <a:schemeClr val="bg1"/>
                </a:solidFill>
                <a:latin typeface="맑은 고딕" charset="0"/>
                <a:ea typeface="맑은 고딕" charset="0"/>
              </a:rPr>
              <a:t>( https://sites.google.com/view/ibdp-lab/ )</a:t>
            </a:r>
            <a:r>
              <a:rPr lang="en-US" altLang="ko-KR" sz="1800" b="1" i="1" dirty="0">
                <a:solidFill>
                  <a:schemeClr val="bg1"/>
                </a:solidFill>
                <a:latin typeface="맑은 고딕" charset="0"/>
                <a:ea typeface="맑은 고딕" charset="0"/>
              </a:rPr>
              <a:t>      Teams : 20233140</a:t>
            </a:r>
            <a:r>
              <a:rPr lang="en-US" altLang="ko-KR" b="1" i="1" dirty="0">
                <a:solidFill>
                  <a:schemeClr val="bg1"/>
                </a:solidFill>
                <a:latin typeface="맑은 고딕" charset="0"/>
                <a:ea typeface="맑은 고딕" charset="0"/>
              </a:rPr>
              <a:t>@student.changwon.ac.kr </a:t>
            </a:r>
            <a:endParaRPr lang="ko-KR" altLang="en-US" sz="1800" i="1" dirty="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pic>
        <p:nvPicPr>
          <p:cNvPr id="12" name="그림 19" descr="C:/Users/USER/AppData/Roaming/PolarisOffice/ETemp/1604_13551552/fImage56966786500.png">
            <a:extLst>
              <a:ext uri="{FF2B5EF4-FFF2-40B4-BE49-F238E27FC236}">
                <a16:creationId xmlns:a16="http://schemas.microsoft.com/office/drawing/2014/main" id="{D2AF5FF9-5161-9722-EAA5-8F7090E52FE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540" y="6486208"/>
            <a:ext cx="368935" cy="382904"/>
          </a:xfrm>
          <a:prstGeom prst="rect">
            <a:avLst/>
          </a:prstGeom>
          <a:noFill/>
        </p:spPr>
      </p:pic>
      <p:sp>
        <p:nvSpPr>
          <p:cNvPr id="13" name="슬라이드 번호 개체 틀 5">
            <a:extLst>
              <a:ext uri="{FF2B5EF4-FFF2-40B4-BE49-F238E27FC236}">
                <a16:creationId xmlns:a16="http://schemas.microsoft.com/office/drawing/2014/main" id="{00258BFF-3E15-044F-9015-31A33DF88CA9}"/>
              </a:ext>
            </a:extLst>
          </p:cNvPr>
          <p:cNvSpPr txBox="1">
            <a:spLocks/>
          </p:cNvSpPr>
          <p:nvPr userDrawn="1"/>
        </p:nvSpPr>
        <p:spPr>
          <a:xfrm>
            <a:off x="9404838" y="652160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CEA8431-3640-4575-ABAE-11276775A2BC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A745F964-6756-F53C-609D-7A5C665F7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344855" y="333218"/>
            <a:ext cx="847145" cy="881941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EC35C77F-A15A-4DA5-830F-8034FFE8CAA9}"/>
              </a:ext>
            </a:extLst>
          </p:cNvPr>
          <p:cNvSpPr/>
          <p:nvPr userDrawn="1"/>
        </p:nvSpPr>
        <p:spPr>
          <a:xfrm>
            <a:off x="-2540" y="-9998"/>
            <a:ext cx="12192000" cy="343216"/>
          </a:xfrm>
          <a:prstGeom prst="rect">
            <a:avLst/>
          </a:prstGeom>
          <a:solidFill>
            <a:srgbClr val="274C9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800" b="1" i="1" dirty="0">
                <a:solidFill>
                  <a:schemeClr val="bg1"/>
                </a:solidFill>
                <a:latin typeface="맑은 고딕" charset="0"/>
                <a:ea typeface="맑은 고딕" charset="0"/>
              </a:rPr>
              <a:t>     </a:t>
            </a:r>
            <a:endParaRPr lang="ko-KR" altLang="en-US" sz="1800" i="1" dirty="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83937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B26A48F9-5C8F-76A1-82D8-DFFDAA529820}"/>
              </a:ext>
            </a:extLst>
          </p:cNvPr>
          <p:cNvSpPr/>
          <p:nvPr/>
        </p:nvSpPr>
        <p:spPr>
          <a:xfrm>
            <a:off x="-1270" y="6532563"/>
            <a:ext cx="12192000" cy="343216"/>
          </a:xfrm>
          <a:prstGeom prst="rect">
            <a:avLst/>
          </a:prstGeom>
          <a:solidFill>
            <a:srgbClr val="274C9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800" b="1" i="1" dirty="0">
                <a:solidFill>
                  <a:schemeClr val="bg1"/>
                </a:solidFill>
                <a:latin typeface="맑은 고딕" charset="0"/>
                <a:ea typeface="맑은 고딕" charset="0"/>
              </a:rPr>
              <a:t>     </a:t>
            </a:r>
            <a:r>
              <a:rPr lang="ko-KR" altLang="ko-KR" sz="1800" b="1" i="1" dirty="0">
                <a:solidFill>
                  <a:schemeClr val="bg1"/>
                </a:solidFill>
                <a:latin typeface="맑은 고딕" charset="0"/>
                <a:ea typeface="맑은 고딕" charset="0"/>
              </a:rPr>
              <a:t>IBDP </a:t>
            </a:r>
            <a:r>
              <a:rPr lang="ko-KR" altLang="ko-KR" sz="1800" b="1" i="1" dirty="0" err="1">
                <a:solidFill>
                  <a:schemeClr val="bg1"/>
                </a:solidFill>
                <a:latin typeface="맑은 고딕" charset="0"/>
                <a:ea typeface="맑은 고딕" charset="0"/>
              </a:rPr>
              <a:t>Lab</a:t>
            </a:r>
            <a:r>
              <a:rPr lang="ko-KR" altLang="ko-KR" sz="1800" i="1" dirty="0">
                <a:solidFill>
                  <a:schemeClr val="bg1"/>
                </a:solidFill>
                <a:latin typeface="맑은 고딕" charset="0"/>
                <a:ea typeface="맑은 고딕" charset="0"/>
              </a:rPr>
              <a:t> </a:t>
            </a:r>
            <a:r>
              <a:rPr lang="ko-KR" altLang="ko-KR" sz="1800" b="1" i="1" dirty="0">
                <a:solidFill>
                  <a:schemeClr val="bg1"/>
                </a:solidFill>
                <a:latin typeface="맑은 고딕" charset="0"/>
                <a:ea typeface="맑은 고딕" charset="0"/>
              </a:rPr>
              <a:t>( https://sites.google.com/view/ibdp-lab/ )</a:t>
            </a:r>
            <a:r>
              <a:rPr lang="en-US" altLang="ko-KR" sz="1800" b="1" i="1" dirty="0">
                <a:solidFill>
                  <a:schemeClr val="bg1"/>
                </a:solidFill>
                <a:latin typeface="맑은 고딕" charset="0"/>
                <a:ea typeface="맑은 고딕" charset="0"/>
              </a:rPr>
              <a:t>      Teams : 20233140</a:t>
            </a:r>
            <a:r>
              <a:rPr lang="en-US" altLang="ko-KR" b="1" i="1" dirty="0">
                <a:solidFill>
                  <a:schemeClr val="bg1"/>
                </a:solidFill>
                <a:latin typeface="맑은 고딕" charset="0"/>
                <a:ea typeface="맑은 고딕" charset="0"/>
              </a:rPr>
              <a:t>@student.changwon.ac.kr </a:t>
            </a:r>
            <a:endParaRPr lang="ko-KR" altLang="en-US" sz="1800" i="1" dirty="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4C3F41E-8D88-0259-E8F4-F58C38D960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125" y="325437"/>
            <a:ext cx="10515600" cy="790740"/>
          </a:xfrm>
        </p:spPr>
        <p:txBody>
          <a:bodyPr>
            <a:normAutofit/>
          </a:bodyPr>
          <a:lstStyle>
            <a:lvl1pPr>
              <a:defRPr sz="2400">
                <a:latin typeface="+mj-lt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BF616CB-243D-DB29-A5A9-B51B20CED9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1800">
                <a:latin typeface="+mj-lt"/>
              </a:defRPr>
            </a:lvl1pPr>
            <a:lvl2pPr>
              <a:defRPr sz="1400">
                <a:latin typeface="+mj-lt"/>
              </a:defRPr>
            </a:lvl2pPr>
            <a:lvl3pPr>
              <a:defRPr sz="1100">
                <a:latin typeface="+mj-lt"/>
              </a:defRPr>
            </a:lvl3pPr>
          </a:lstStyle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36667A-34CE-92A1-B512-ADD8DB6B4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04838" y="6521608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CEA8431-3640-4575-ABAE-11276775A2BC}" type="slidenum">
              <a:rPr lang="ko-KR" altLang="en-US" smtClean="0"/>
              <a:t>‹#›</a:t>
            </a:fld>
            <a:endParaRPr lang="ko-KR" altLang="en-US" dirty="0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2BF93BAD-88E7-F67B-A03B-01A185809E78}"/>
              </a:ext>
            </a:extLst>
          </p:cNvPr>
          <p:cNvCxnSpPr/>
          <p:nvPr/>
        </p:nvCxnSpPr>
        <p:spPr>
          <a:xfrm>
            <a:off x="368935" y="942052"/>
            <a:ext cx="11823065" cy="0"/>
          </a:xfrm>
          <a:prstGeom prst="line">
            <a:avLst/>
          </a:prstGeom>
          <a:ln w="38100">
            <a:solidFill>
              <a:srgbClr val="274C9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19" descr="C:/Users/USER/AppData/Roaming/PolarisOffice/ETemp/1604_13551552/fImage56966786500.png">
            <a:extLst>
              <a:ext uri="{FF2B5EF4-FFF2-40B4-BE49-F238E27FC236}">
                <a16:creationId xmlns:a16="http://schemas.microsoft.com/office/drawing/2014/main" id="{60E36177-B8C0-8174-C937-F1FB43DB478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270" y="6492875"/>
            <a:ext cx="368935" cy="382904"/>
          </a:xfrm>
          <a:prstGeom prst="rect">
            <a:avLst/>
          </a:prstGeom>
          <a:noFill/>
        </p:spPr>
      </p:pic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317C8817-71D5-9E3B-6E69-B1D7278BBD31}"/>
              </a:ext>
            </a:extLst>
          </p:cNvPr>
          <p:cNvCxnSpPr>
            <a:cxnSpLocks/>
          </p:cNvCxnSpPr>
          <p:nvPr/>
        </p:nvCxnSpPr>
        <p:spPr>
          <a:xfrm>
            <a:off x="11764488" y="6514784"/>
            <a:ext cx="0" cy="343216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그림 10">
            <a:extLst>
              <a:ext uri="{FF2B5EF4-FFF2-40B4-BE49-F238E27FC236}">
                <a16:creationId xmlns:a16="http://schemas.microsoft.com/office/drawing/2014/main" id="{92085F2A-E3B6-45E3-8A40-970C19631A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02849" y="37875"/>
            <a:ext cx="847145" cy="881941"/>
          </a:xfrm>
          <a:prstGeom prst="rect">
            <a:avLst/>
          </a:prstGeom>
        </p:spPr>
      </p:pic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53102637-BBFC-4395-AADB-E220011C5B67}"/>
              </a:ext>
            </a:extLst>
          </p:cNvPr>
          <p:cNvCxnSpPr>
            <a:cxnSpLocks/>
          </p:cNvCxnSpPr>
          <p:nvPr/>
        </p:nvCxnSpPr>
        <p:spPr>
          <a:xfrm>
            <a:off x="0" y="294399"/>
            <a:ext cx="22724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39FE1BE-E53A-4F04-AA56-5AB08A63F91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27247" y="174515"/>
            <a:ext cx="7142060" cy="258334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latin typeface="+mj-lt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4354452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F67C66D9-DC8A-41C7-8F27-CA368F23BA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EA8431-3640-4575-ABAE-11276775A2B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6816B11-62CD-4D9C-B44C-D0B84468D3F6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EB42F72F-ABE7-4A4B-A720-ACFFC3C4C16C}" type="datetime1">
              <a:rPr lang="ko-KR" altLang="en-US" smtClean="0"/>
              <a:t>07-03(Fri)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DA40F44-2B89-4E24-B458-AEAF8F968DF5}"/>
              </a:ext>
            </a:extLst>
          </p:cNvPr>
          <p:cNvSpPr/>
          <p:nvPr/>
        </p:nvSpPr>
        <p:spPr>
          <a:xfrm>
            <a:off x="-1270" y="6532563"/>
            <a:ext cx="12192000" cy="343216"/>
          </a:xfrm>
          <a:prstGeom prst="rect">
            <a:avLst/>
          </a:prstGeom>
          <a:solidFill>
            <a:srgbClr val="274C9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800" b="1" i="1" dirty="0">
                <a:solidFill>
                  <a:schemeClr val="bg1"/>
                </a:solidFill>
                <a:latin typeface="맑은 고딕" charset="0"/>
                <a:ea typeface="맑은 고딕" charset="0"/>
              </a:rPr>
              <a:t>     </a:t>
            </a:r>
            <a:r>
              <a:rPr lang="ko-KR" altLang="ko-KR" sz="1800" b="1" i="1" dirty="0">
                <a:solidFill>
                  <a:schemeClr val="bg1"/>
                </a:solidFill>
                <a:latin typeface="맑은 고딕" charset="0"/>
                <a:ea typeface="맑은 고딕" charset="0"/>
              </a:rPr>
              <a:t>IBDP </a:t>
            </a:r>
            <a:r>
              <a:rPr lang="ko-KR" altLang="ko-KR" sz="1800" b="1" i="1" dirty="0" err="1">
                <a:solidFill>
                  <a:schemeClr val="bg1"/>
                </a:solidFill>
                <a:latin typeface="맑은 고딕" charset="0"/>
                <a:ea typeface="맑은 고딕" charset="0"/>
              </a:rPr>
              <a:t>Lab</a:t>
            </a:r>
            <a:r>
              <a:rPr lang="ko-KR" altLang="ko-KR" sz="1800" i="1" dirty="0">
                <a:solidFill>
                  <a:schemeClr val="bg1"/>
                </a:solidFill>
                <a:latin typeface="맑은 고딕" charset="0"/>
                <a:ea typeface="맑은 고딕" charset="0"/>
              </a:rPr>
              <a:t> </a:t>
            </a:r>
            <a:r>
              <a:rPr lang="ko-KR" altLang="ko-KR" sz="1800" b="1" i="1" dirty="0">
                <a:solidFill>
                  <a:schemeClr val="bg1"/>
                </a:solidFill>
                <a:latin typeface="맑은 고딕" charset="0"/>
                <a:ea typeface="맑은 고딕" charset="0"/>
              </a:rPr>
              <a:t>( https://sites.google.com/view/ibdp-lab/ )</a:t>
            </a:r>
            <a:r>
              <a:rPr lang="en-US" altLang="ko-KR" sz="1800" b="1" i="1" dirty="0">
                <a:solidFill>
                  <a:schemeClr val="bg1"/>
                </a:solidFill>
                <a:latin typeface="맑은 고딕" charset="0"/>
                <a:ea typeface="맑은 고딕" charset="0"/>
              </a:rPr>
              <a:t>      Teams : 20233140</a:t>
            </a:r>
            <a:r>
              <a:rPr lang="en-US" altLang="ko-KR" b="1" i="1" dirty="0">
                <a:solidFill>
                  <a:schemeClr val="bg1"/>
                </a:solidFill>
                <a:latin typeface="맑은 고딕" charset="0"/>
                <a:ea typeface="맑은 고딕" charset="0"/>
              </a:rPr>
              <a:t>@student.changwon.ac.kr </a:t>
            </a:r>
            <a:endParaRPr lang="ko-KR" altLang="en-US" sz="1800" i="1" dirty="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377209AB-84A3-46E8-B972-52FA582D728E}"/>
              </a:ext>
            </a:extLst>
          </p:cNvPr>
          <p:cNvSpPr txBox="1">
            <a:spLocks/>
          </p:cNvSpPr>
          <p:nvPr/>
        </p:nvSpPr>
        <p:spPr>
          <a:xfrm>
            <a:off x="365125" y="325437"/>
            <a:ext cx="10515600" cy="7907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+mj-lt"/>
                <a:ea typeface="나눔고딕OTF" panose="020D0604000000000000" pitchFamily="34" charset="-127"/>
                <a:cs typeface="+mj-cs"/>
              </a:defRPr>
            </a:lvl1pPr>
          </a:lstStyle>
          <a:p>
            <a:r>
              <a:rPr lang="en-US" altLang="ko-KR" dirty="0"/>
              <a:t>Q&amp;A</a:t>
            </a:r>
            <a:endParaRPr lang="ko-KR" altLang="en-US" dirty="0"/>
          </a:p>
        </p:txBody>
      </p:sp>
      <p:sp>
        <p:nvSpPr>
          <p:cNvPr id="8" name="슬라이드 번호 개체 틀 5">
            <a:extLst>
              <a:ext uri="{FF2B5EF4-FFF2-40B4-BE49-F238E27FC236}">
                <a16:creationId xmlns:a16="http://schemas.microsoft.com/office/drawing/2014/main" id="{1255EB20-A9CA-4C0C-8093-6A6C781761C9}"/>
              </a:ext>
            </a:extLst>
          </p:cNvPr>
          <p:cNvSpPr txBox="1">
            <a:spLocks/>
          </p:cNvSpPr>
          <p:nvPr/>
        </p:nvSpPr>
        <p:spPr>
          <a:xfrm>
            <a:off x="9404838" y="652160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13237F5-BA6C-44EB-8611-BE9F046D20F4}" type="slidenum">
              <a:rPr lang="ko-KR" altLang="en-US" smtClean="0"/>
              <a:pPr/>
              <a:t>‹#›</a:t>
            </a:fld>
            <a:endParaRPr lang="ko-KR" altLang="en-US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31EB4BA1-B44E-4F0D-874C-4ED2D475D58A}"/>
              </a:ext>
            </a:extLst>
          </p:cNvPr>
          <p:cNvCxnSpPr/>
          <p:nvPr/>
        </p:nvCxnSpPr>
        <p:spPr>
          <a:xfrm>
            <a:off x="368935" y="942052"/>
            <a:ext cx="11823065" cy="0"/>
          </a:xfrm>
          <a:prstGeom prst="line">
            <a:avLst/>
          </a:prstGeom>
          <a:ln w="38100">
            <a:solidFill>
              <a:srgbClr val="274C9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그림 19" descr="C:/Users/USER/AppData/Roaming/PolarisOffice/ETemp/1604_13551552/fImage56966786500.png">
            <a:extLst>
              <a:ext uri="{FF2B5EF4-FFF2-40B4-BE49-F238E27FC236}">
                <a16:creationId xmlns:a16="http://schemas.microsoft.com/office/drawing/2014/main" id="{92686B94-703A-4016-ADC6-2A17D5F8095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270" y="6492875"/>
            <a:ext cx="368935" cy="382904"/>
          </a:xfrm>
          <a:prstGeom prst="rect">
            <a:avLst/>
          </a:prstGeom>
          <a:noFill/>
        </p:spPr>
      </p:pic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684D4C4-C0AE-452D-AA04-DFDC8ECB11A3}"/>
              </a:ext>
            </a:extLst>
          </p:cNvPr>
          <p:cNvCxnSpPr>
            <a:cxnSpLocks/>
          </p:cNvCxnSpPr>
          <p:nvPr/>
        </p:nvCxnSpPr>
        <p:spPr>
          <a:xfrm>
            <a:off x="11764488" y="6514784"/>
            <a:ext cx="0" cy="343216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>
            <a:extLst>
              <a:ext uri="{FF2B5EF4-FFF2-40B4-BE49-F238E27FC236}">
                <a16:creationId xmlns:a16="http://schemas.microsoft.com/office/drawing/2014/main" id="{0591B738-5599-4692-A0B7-D45D2F6206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02849" y="37875"/>
            <a:ext cx="847145" cy="881941"/>
          </a:xfrm>
          <a:prstGeom prst="rect">
            <a:avLst/>
          </a:prstGeom>
        </p:spPr>
      </p:pic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B0B5DD2-84AA-4E6C-94FF-74FADA6CD60C}"/>
              </a:ext>
            </a:extLst>
          </p:cNvPr>
          <p:cNvCxnSpPr>
            <a:cxnSpLocks/>
          </p:cNvCxnSpPr>
          <p:nvPr/>
        </p:nvCxnSpPr>
        <p:spPr>
          <a:xfrm>
            <a:off x="0" y="294399"/>
            <a:ext cx="22724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제목 1">
            <a:extLst>
              <a:ext uri="{FF2B5EF4-FFF2-40B4-BE49-F238E27FC236}">
                <a16:creationId xmlns:a16="http://schemas.microsoft.com/office/drawing/2014/main" id="{E41C8CFB-0D87-4D00-8590-3192384135ED}"/>
              </a:ext>
            </a:extLst>
          </p:cNvPr>
          <p:cNvSpPr txBox="1">
            <a:spLocks/>
          </p:cNvSpPr>
          <p:nvPr/>
        </p:nvSpPr>
        <p:spPr>
          <a:xfrm>
            <a:off x="1524000" y="23415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+mj-lt"/>
                <a:ea typeface="나눔고딕OTF" panose="020D0604000000000000" pitchFamily="34" charset="-127"/>
                <a:cs typeface="+mj-cs"/>
              </a:defRPr>
            </a:lvl1pPr>
          </a:lstStyle>
          <a:p>
            <a:pPr algn="ctr"/>
            <a:r>
              <a:rPr lang="ko-KR" altLang="en-US" sz="4000" dirty="0"/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192072154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621C316-90E1-B3FA-1D90-764393624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018" y="125483"/>
            <a:ext cx="10515600" cy="7907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A76A861-75D0-5928-B0BC-309C7B2258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0639" y="1080655"/>
            <a:ext cx="11253849" cy="50963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A6116F-5369-9AC0-886A-EB4C6ED8B6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EA8431-3640-4575-ABAE-11276775A2B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B584A51-2EED-E69B-5B50-6113017C45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7ED13A4-71FD-40F9-92B3-30DE71D39420}" type="datetime1">
              <a:rPr lang="ko-KR" altLang="en-US" smtClean="0"/>
              <a:t>07-03(Fri)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466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나눔고딕OTF" panose="020D0604000000000000" pitchFamily="34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j-lt"/>
          <a:ea typeface="나눔고딕OTF" panose="020D0604000000000000" pitchFamily="34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j-lt"/>
          <a:ea typeface="나눔고딕OTF" panose="020D0604000000000000" pitchFamily="34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j-lt"/>
          <a:ea typeface="나눔고딕OTF" panose="020D0604000000000000" pitchFamily="34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lt"/>
          <a:ea typeface="나눔고딕OTF" panose="020D0604000000000000" pitchFamily="34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lt"/>
          <a:ea typeface="나눔고딕OTF" panose="020D0604000000000000" pitchFamily="34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jpg"/><Relationship Id="rId3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jp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창고 안전 순찰 AI 에이전트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600">
                <a:latin typeface="맑은 고딕"/>
              </a:rPr>
              <a:t>작업자 바디캠과 CCTV로 위험 요소를 판정·재확인하고 조치 지시서를 만드는 피지컬 AI</a:t>
            </a:r>
          </a:p>
          <a:p/>
          <a:p>
            <a:r>
              <a:rPr sz="1800">
                <a:latin typeface="맑은 고딕"/>
              </a:rPr>
              <a:t>IBDP 팀 · 문상균, 이승혜, 조현준</a:t>
            </a:r>
          </a:p>
          <a:p>
            <a:r>
              <a:rPr sz="1800">
                <a:latin typeface="맑은 고딕"/>
              </a:rPr>
              <a:t>2026-10-06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51560"/>
            <a:ext cx="7589520" cy="41148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>
                <a:solidFill>
                  <a:srgbClr val="5A6370"/>
                </a:solidFill>
                <a:latin typeface="맑은 고딕"/>
              </a:rPr>
              <a:t>제4회 경남AI·SW경진대회 · ③ 제조·피지컬 AI Agent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맑은 고딕"/>
              </a:rPr>
              <a:t>1. 문제: 창고 순찰 점검은 사람 눈에 의존한다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840480" cy="210312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6600" b="1">
                <a:solidFill>
                  <a:srgbClr val="D93A3A"/>
                </a:solidFill>
                <a:latin typeface="맑은 고딕"/>
              </a:rPr>
              <a:t>25.2%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A6370"/>
                </a:solidFill>
                <a:latin typeface="맑은 고딕"/>
              </a:rPr>
              <a:t>2025년 사고재해자 113,305명 중 넘어짐 28,606명, 재해 유형 1위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A6370"/>
                </a:solidFill>
                <a:latin typeface="맑은 고딕"/>
              </a:rPr>
              <a:t>(고용노동부 「2025년 산업재해 현황」)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749039"/>
            <a:ext cx="3840480" cy="237744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84E92"/>
                </a:solidFill>
                <a:latin typeface="맑은 고딕"/>
              </a:rPr>
              <a:t>창고의 위험 요소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E2430"/>
                </a:solidFill>
                <a:latin typeface="맑은 고딕"/>
              </a:rPr>
              <a:t>• 바닥 유출 → 미끄러짐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E2430"/>
                </a:solidFill>
                <a:latin typeface="맑은 고딕"/>
              </a:rPr>
              <a:t>• 통로에 방치된 공구·자재 → 걸려 넘어짐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E2430"/>
                </a:solidFill>
                <a:latin typeface="맑은 고딕"/>
              </a:rPr>
              <a:t>• 불안정 적재 → 무너짐·맞음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E2430"/>
                </a:solidFill>
                <a:latin typeface="맑은 고딕"/>
              </a:rPr>
              <a:t>• 쓰러지거나 가로막힌 소화기 → 화재 초기 대응 실패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0" y="1280160"/>
            <a:ext cx="6858000" cy="45720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284E92"/>
                </a:solidFill>
                <a:latin typeface="맑은 고딕"/>
              </a:rPr>
              <a:t>지금의 순찰 점검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6320" y="1828800"/>
            <a:ext cx="6858000" cy="123444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E2430"/>
                </a:solidFill>
                <a:latin typeface="맑은 고딕"/>
              </a:rPr>
              <a:t>놓치기 쉽다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A6370"/>
                </a:solidFill>
                <a:latin typeface="맑은 고딕"/>
              </a:rPr>
              <a:t>작업자가 걸으며 눈으로만 확인. 잠깐 보고 지나친 것, 경로에서 먼 것은 빠짐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3246120"/>
            <a:ext cx="6858000" cy="123444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E2430"/>
                </a:solidFill>
                <a:latin typeface="맑은 고딕"/>
              </a:rPr>
              <a:t>기록이 남지 않는다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A6370"/>
                </a:solidFill>
                <a:latin typeface="맑은 고딕"/>
              </a:rPr>
              <a:t>무엇을 어디서 어떤 근거로 위험하다고 봤는지 남지 않아 조치 지시와 추적이 어려움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4663440"/>
            <a:ext cx="6858000" cy="123444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E2430"/>
                </a:solidFill>
                <a:latin typeface="맑은 고딕"/>
              </a:rPr>
              <a:t>다가가는 순간을 모른다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A6370"/>
                </a:solidFill>
                <a:latin typeface="맑은 고딕"/>
              </a:rPr>
              <a:t>작업자가 위험물 바로 옆을 지나가는 아차사고를 관리자가 알 수 없음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맑은 고딕"/>
              </a:rPr>
              <a:t>2. 해결: 순찰하며 판정하고, 애매하면 스스로 재확인하는 AI 에이전트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1E2430"/>
                </a:solidFill>
                <a:latin typeface="맑은 고딕"/>
              </a:rPr>
              <a:t>작업자 바디캠과 CCTV 로 위험/안전을 판정하고, 애매한 것은 </a:t>
            </a:r>
            <a:r>
              <a:rPr sz="1700" b="1">
                <a:solidFill>
                  <a:srgbClr val="1E2430"/>
                </a:solidFill>
                <a:latin typeface="맑은 고딕"/>
              </a:rPr>
              <a:t>볼 수 있는 CCTV 를 골라 확대해 다시 확인</a:t>
            </a:r>
            <a:r>
              <a:rPr sz="1700" b="0">
                <a:solidFill>
                  <a:srgbClr val="1E2430"/>
                </a:solidFill>
                <a:latin typeface="맑은 고딕"/>
              </a:rPr>
              <a:t>한 뒤, 작업자 접근을 경고하고 </a:t>
            </a:r>
            <a:r>
              <a:rPr sz="1700" b="1">
                <a:solidFill>
                  <a:srgbClr val="1E2430"/>
                </a:solidFill>
                <a:latin typeface="맑은 고딕"/>
              </a:rPr>
              <a:t>조치 지시서</a:t>
            </a:r>
            <a:r>
              <a:rPr sz="1700" b="0">
                <a:solidFill>
                  <a:srgbClr val="1E2430"/>
                </a:solidFill>
                <a:latin typeface="맑은 고딕"/>
              </a:rPr>
              <a:t>를 만든다</a:t>
            </a:r>
          </a:p>
        </p:txBody>
      </p:sp>
      <p:pic>
        <p:nvPicPr>
          <p:cNvPr id="4" name="Picture 3" descr="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680"/>
            <a:ext cx="11064240" cy="17873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4114800"/>
            <a:ext cx="2103120" cy="173736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284E92"/>
                </a:solidFill>
                <a:latin typeface="맑은 고딕"/>
              </a:rPr>
              <a:t>① 바디캠 판정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YOLO26 이 10개 클래스로
위험/안전 상태 판정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07208" y="4114800"/>
            <a:ext cx="2103120" cy="173736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E08A00"/>
                </a:solidFill>
                <a:latin typeface="맑은 고딕"/>
              </a:rPr>
              <a:t>② 확대 재확인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CCTV 선택 → PTZ 확대
재시도 → 현장 확인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65776" y="4114800"/>
            <a:ext cx="2103120" cy="173736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D93A3A"/>
                </a:solidFill>
                <a:latin typeface="맑은 고딕"/>
              </a:rPr>
              <a:t>③ 접근 경고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CCTV 3대로 작업자-위험물
거리 2 m 안이면 경고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24344" y="4114800"/>
            <a:ext cx="2103120" cy="173736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7A5AC8"/>
                </a:solidFill>
                <a:latin typeface="맑은 고딕"/>
              </a:rPr>
              <a:t>④ 위험물 대장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위치·상태·확신도 기억
점검표 8곳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82912" y="4114800"/>
            <a:ext cx="2103120" cy="173736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2E9D5B"/>
                </a:solidFill>
                <a:latin typeface="맑은 고딕"/>
              </a:rPr>
              <a:t>⑤ 조치 지시서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우선순위·위치·조치
평면도와 기록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A6370"/>
                </a:solidFill>
                <a:latin typeface="맑은 고딕"/>
              </a:rPr>
              <a:t>로봇 없이 바디캠과 기존 CCTV(PTZ) 만으로 동작 · 위험 데이터는 디지털 트윈에서 합성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맑은 고딕"/>
              </a:rPr>
              <a:t>3. 에이전트 구조 (Goal · Plan · Reasoning · Tool · Memory · Feedback)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11247120" cy="3893234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5257800"/>
          <a:ext cx="11247114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874519"/>
                <a:gridCol w="1874519"/>
                <a:gridCol w="1874519"/>
                <a:gridCol w="1874519"/>
                <a:gridCol w="1874519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Goal</a:t>
                      </a:r>
                    </a:p>
                  </a:txBody>
                  <a:tcPr marL="54864" marR="54864" marT="27432" marB="27432">
                    <a:solidFill>
                      <a:srgbClr val="284E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Planning</a:t>
                      </a:r>
                    </a:p>
                  </a:txBody>
                  <a:tcPr marL="54864" marR="54864" marT="27432" marB="27432">
                    <a:solidFill>
                      <a:srgbClr val="284E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Reasoning</a:t>
                      </a:r>
                    </a:p>
                  </a:txBody>
                  <a:tcPr marL="54864" marR="54864" marT="27432" marB="27432">
                    <a:solidFill>
                      <a:srgbClr val="284E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Tool Use</a:t>
                      </a:r>
                    </a:p>
                  </a:txBody>
                  <a:tcPr marL="54864" marR="54864" marT="27432" marB="27432">
                    <a:solidFill>
                      <a:srgbClr val="284E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Memory</a:t>
                      </a:r>
                    </a:p>
                  </a:txBody>
                  <a:tcPr marL="54864" marR="54864" marT="27432" marB="27432">
                    <a:solidFill>
                      <a:srgbClr val="284E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Feedback</a:t>
                      </a:r>
                    </a:p>
                  </a:txBody>
                  <a:tcPr marL="54864" marR="54864" marT="27432" marB="27432">
                    <a:solidFill>
                      <a:srgbClr val="284E9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430"/>
                          </a:solidFill>
                          <a:latin typeface="맑은 고딕"/>
                        </a:rPr>
                        <a:t>위험물 판정, 접근 경고, 조치 지시서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430"/>
                          </a:solidFill>
                          <a:latin typeface="맑은 고딕"/>
                        </a:rPr>
                        <a:t>도면으로 점검표 8곳, 지점별 CCTV 계산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430"/>
                          </a:solidFill>
                          <a:latin typeface="맑은 고딕"/>
                        </a:rPr>
                        <a:t>재확인 필요 판단 (잠깐 보임, 엇갈림)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430"/>
                          </a:solidFill>
                          <a:latin typeface="맑은 고딕"/>
                        </a:rPr>
                        <a:t>바디캠·CCTV·PTZ 명령·YOLO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430"/>
                          </a:solidFill>
                          <a:latin typeface="맑은 고딕"/>
                        </a:rPr>
                        <a:t>위험물 대장 (위치·판정 표·상태)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430"/>
                          </a:solidFill>
                          <a:latin typeface="맑은 고딕"/>
                        </a:rPr>
                        <a:t>판정 수정, 다른 CCTV 재시도, 현장 확인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맑은 고딕"/>
              </a:rPr>
              <a:t>4. 디지털 트윈과 학습 데이터</a:t>
            </a:r>
          </a:p>
        </p:txBody>
      </p:sp>
      <p:pic>
        <p:nvPicPr>
          <p:cNvPr id="3" name="Picture 2" descr="fig_cctv_ra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486400" cy="30861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343400"/>
            <a:ext cx="5486400" cy="173736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284E92"/>
                </a:solidFill>
                <a:latin typeface="맑은 고딕"/>
              </a:rPr>
              <a:t>NVIDIA Isaac Sim 6.0 실사 창고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NVIDIA 소품(소화기, 표지판, 라바콘, 상자, 팔레트, 작업대, 작업자)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YCB 실물 스캔 공구 (드릴, 클램프, 가위, 나무토막)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Replicator 로 정답 박스 자동 생성, 정답표로 채점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309360" y="1188720"/>
          <a:ext cx="539496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011680"/>
                <a:gridCol w="1828800"/>
              </a:tblGrid>
              <a:tr h="329183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종류</a:t>
                      </a:r>
                    </a:p>
                  </a:txBody>
                  <a:tcPr marL="54864" marR="54864" marT="27432" marB="27432">
                    <a:solidFill>
                      <a:srgbClr val="284E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위험</a:t>
                      </a:r>
                    </a:p>
                  </a:txBody>
                  <a:tcPr marL="54864" marR="54864" marT="27432" marB="27432">
                    <a:solidFill>
                      <a:srgbClr val="284E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안전</a:t>
                      </a:r>
                    </a:p>
                  </a:txBody>
                  <a:tcPr marL="54864" marR="54864" marT="27432" marB="27432">
                    <a:solidFill>
                      <a:srgbClr val="284E92"/>
                    </a:solidFill>
                  </a:tcPr>
                </a:tc>
              </a:tr>
              <a:tr h="329183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430"/>
                          </a:solidFill>
                          <a:latin typeface="맑은 고딕"/>
                        </a:rPr>
                        <a:t>바닥 유출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430"/>
                          </a:solidFill>
                          <a:latin typeface="맑은 고딕"/>
                        </a:rPr>
                        <a:t>조치 없음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430"/>
                          </a:solidFill>
                          <a:latin typeface="맑은 고딕"/>
                        </a:rPr>
                        <a:t>표지판·라바콘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9183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430"/>
                          </a:solidFill>
                          <a:latin typeface="맑은 고딕"/>
                        </a:rPr>
                        <a:t>공구·자재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430"/>
                          </a:solidFill>
                          <a:latin typeface="맑은 고딕"/>
                        </a:rPr>
                        <a:t>통로 바닥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430"/>
                          </a:solidFill>
                          <a:latin typeface="맑은 고딕"/>
                        </a:rPr>
                        <a:t>작업대 위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</a:tr>
              <a:tr h="329183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430"/>
                          </a:solidFill>
                          <a:latin typeface="맑은 고딕"/>
                        </a:rPr>
                        <a:t>적재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430"/>
                          </a:solidFill>
                          <a:latin typeface="맑은 고딕"/>
                        </a:rPr>
                        <a:t>기울어짐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430"/>
                          </a:solidFill>
                          <a:latin typeface="맑은 고딕"/>
                        </a:rPr>
                        <a:t>반듯함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9187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430"/>
                          </a:solidFill>
                          <a:latin typeface="맑은 고딕"/>
                        </a:rPr>
                        <a:t>소화기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430"/>
                          </a:solidFill>
                          <a:latin typeface="맑은 고딕"/>
                        </a:rPr>
                        <a:t>쓰러짐 / 가로막힘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430"/>
                          </a:solidFill>
                          <a:latin typeface="맑은 고딕"/>
                        </a:rPr>
                        <a:t>제자리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309360" y="3108960"/>
            <a:ext cx="5394960" cy="292608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284E92"/>
                </a:solidFill>
                <a:latin typeface="맑은 고딕"/>
              </a:rPr>
              <a:t>합성 데이터 4000장 → YOLO26s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바디캠 55%, CCTV 30%, 자유 시점 15% · 조명·흔들림 무작위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같은 종류를 위험/안전 상태로 함께 배치 → 모양이 아니라 상태를 학습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검증 mAP50 </a:t>
            </a:r>
            <a:r>
              <a:rPr sz="1300" b="1">
                <a:solidFill>
                  <a:srgbClr val="1E2430"/>
                </a:solidFill>
                <a:latin typeface="맑은 고딕"/>
              </a:rPr>
              <a:t>0.923</a:t>
            </a:r>
            <a:r>
              <a:rPr sz="1300" b="0">
                <a:solidFill>
                  <a:srgbClr val="1E2430"/>
                </a:solidFill>
                <a:latin typeface="맑은 고딕"/>
              </a:rPr>
              <a:t> (mAP50-95 0.733), 위험/안전 짝 혼동 1~4%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960 px, 80 epoch, RTX 4060 Ti 에서 약 2.2시간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맑은 고딕"/>
              </a:rPr>
              <a:t>5. 핵심 구현 ①  바디캠 판정과 CCTV 접근 경고</a:t>
            </a:r>
          </a:p>
        </p:txBody>
      </p:sp>
      <p:pic>
        <p:nvPicPr>
          <p:cNvPr id="3" name="Picture 2" descr="fig_bod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577840" cy="3137535"/>
          </a:xfrm>
          <a:prstGeom prst="rect">
            <a:avLst/>
          </a:prstGeom>
        </p:spPr>
      </p:pic>
      <p:pic>
        <p:nvPicPr>
          <p:cNvPr id="4" name="Picture 3" descr="fig_cctv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88720"/>
            <a:ext cx="5577840" cy="31375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434840"/>
            <a:ext cx="5577840" cy="173736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284E92"/>
                </a:solidFill>
                <a:latin typeface="맑은 고딕"/>
              </a:rPr>
              <a:t>바디캠 YOLO 판정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가슴 높이 1.38 m, 걸음마다 흔들리는 시점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ByteTrack 추적으로 같은 물체 판정을 모아 3프레임이면 확정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박스를 바닥에 투영해 위치 → 위험물 대장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72200" y="4434840"/>
            <a:ext cx="5577840" cy="173736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D93A3A"/>
                </a:solidFill>
                <a:latin typeface="맑은 고딕"/>
              </a:rPr>
              <a:t>CCTV 접근 경고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작업자·위험물 박스를 바닥 좌표로 바꿔 거리 계산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2 m 안이면 경고, 그 위험물 우선순위 상향 (거리 오차 중앙값 0.29 m)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20 m 넘는 추정, 발밑 그림자 오인은 제외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맑은 고딕"/>
              </a:rPr>
              <a:t>6. 핵심 구현 ②  CCTV 선택·확대 재확인과 조치 지시서</a:t>
            </a:r>
          </a:p>
        </p:txBody>
      </p:sp>
      <p:pic>
        <p:nvPicPr>
          <p:cNvPr id="3" name="Picture 2" descr="fig_ptz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120640" cy="2880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114800"/>
            <a:ext cx="5120640" cy="210312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E08A00"/>
                </a:solidFill>
                <a:latin typeface="맑은 고딕"/>
              </a:rPr>
              <a:t>언제 재확인하나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E2430"/>
                </a:solidFill>
                <a:latin typeface="맑은 고딕"/>
              </a:rPr>
              <a:t>• 바디캠에 1~2프레임만 보이고 지나감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E2430"/>
                </a:solidFill>
                <a:latin typeface="맑은 고딕"/>
              </a:rPr>
              <a:t>• 판정 표 1등 70% 미만 (엇갈림) · CCTV 경고로 처음 본 물체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E2430"/>
                </a:solidFill>
                <a:latin typeface="맑은 고딕"/>
              </a:rPr>
              <a:t>• 순찰이 끝나도 못 본 점검 지점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E08A00"/>
                </a:solidFill>
                <a:latin typeface="맑은 고딕"/>
              </a:rPr>
              <a:t>어떻게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E2430"/>
                </a:solidFill>
                <a:latin typeface="맑은 고딕"/>
              </a:rPr>
              <a:t>• 랙·적재물 가림, 거리로 CCTV 선택 → PTZ 확대 2장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E2430"/>
                </a:solidFill>
                <a:latin typeface="맑은 고딕"/>
              </a:rPr>
              <a:t>• 못 찾거나 확신 50% 미만 → 다른 CCTV → 현장 확인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E2430"/>
                </a:solidFill>
                <a:latin typeface="맑은 고딕"/>
              </a:rPr>
              <a:t>• 확대 화면 위치로 대장 위치 보정, 중복 병합</a:t>
            </a:r>
          </a:p>
        </p:txBody>
      </p:sp>
      <p:pic>
        <p:nvPicPr>
          <p:cNvPr id="5" name="Picture 4" descr="fig_dashboard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188720"/>
            <a:ext cx="5897880" cy="28014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52160" y="5806440"/>
            <a:ext cx="5897880" cy="41148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6370"/>
                </a:solidFill>
                <a:latin typeface="맑은 고딕"/>
              </a:rPr>
              <a:t>조치 지시서: 평면도(번호 = 우선순위), 조치 목록, 점검표, 기록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맑은 고딕"/>
              </a:rPr>
              <a:t>7. 시연: 입력 → 판단 → 도구 실행 → 결과</a:t>
            </a:r>
          </a:p>
        </p:txBody>
      </p:sp>
      <p:pic>
        <p:nvPicPr>
          <p:cNvPr id="3" name="Picture 2" descr="fig_vid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7863840" cy="44234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503920" y="1143000"/>
            <a:ext cx="3246120" cy="484632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284E92"/>
                </a:solidFill>
                <a:latin typeface="맑은 고딕"/>
              </a:rPr>
              <a:t>시연 영상 (1분 44초)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A6370"/>
                </a:solidFill>
                <a:latin typeface="맑은 고딕"/>
              </a:rPr>
              <a:t>시나리오 1, 실시간 1배속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E2430"/>
                </a:solidFill>
                <a:latin typeface="맑은 고딕"/>
              </a:rPr>
              <a:t>① 순찰 전 점검 계획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E2430"/>
                </a:solidFill>
                <a:latin typeface="맑은 고딕"/>
              </a:rPr>
              <a:t>② 바디캠 위험/안전 판정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E2430"/>
                </a:solidFill>
                <a:latin typeface="맑은 고딕"/>
              </a:rPr>
              <a:t>③ 애매한 물체 → CCTV 선택 → 확대 재확인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E2430"/>
                </a:solidFill>
                <a:latin typeface="맑은 고딕"/>
              </a:rPr>
              <a:t>④ 작업자 접근 경고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E2430"/>
                </a:solidFill>
                <a:latin typeface="맑은 고딕"/>
              </a:rPr>
              <a:t>⑤ 순찰 끝 점검표 확대 확인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E2430"/>
                </a:solidFill>
                <a:latin typeface="맑은 고딕"/>
              </a:rPr>
              <a:t>⑥ 조치 지시서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E2430"/>
                </a:solidFill>
                <a:latin typeface="맑은 고딕"/>
              </a:rPr>
              <a:t>⑦ 정답표 채점 결과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284E92"/>
                </a:solidFill>
                <a:latin typeface="맑은 고딕"/>
              </a:rPr>
              <a:t>실행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5A6370"/>
                </a:solidFill>
                <a:latin typeface="맑은 고딕"/>
              </a:rPr>
              <a:t>run_patrol.py --view bodycam|top|ptz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맑은 고딕"/>
              </a:rPr>
              <a:t>8. 성과: 학습에 안 쓴 시나리오 10개, 정답표 채점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34440"/>
          <a:ext cx="67665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737360"/>
                <a:gridCol w="173736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창고 전체 물체 기준</a:t>
                      </a:r>
                    </a:p>
                  </a:txBody>
                  <a:tcPr marL="54864" marR="54864" marT="27432" marB="27432">
                    <a:solidFill>
                      <a:srgbClr val="284E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바디캠만</a:t>
                      </a:r>
                    </a:p>
                  </a:txBody>
                  <a:tcPr marL="54864" marR="54864" marT="27432" marB="27432">
                    <a:solidFill>
                      <a:srgbClr val="284E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에이전트</a:t>
                      </a:r>
                    </a:p>
                  </a:txBody>
                  <a:tcPr marL="54864" marR="54864" marT="27432" marB="27432">
                    <a:solidFill>
                      <a:srgbClr val="284E9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2430"/>
                          </a:solidFill>
                          <a:latin typeface="맑은 고딕"/>
                        </a:rPr>
                        <a:t>위험 물체를 위험으로 (72개)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E2430"/>
                          </a:solidFill>
                          <a:latin typeface="맑은 고딕"/>
                        </a:rPr>
                        <a:t>43 (60%)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E2430"/>
                          </a:solidFill>
                          <a:latin typeface="맑은 고딕"/>
                        </a:rPr>
                        <a:t>58 (81%)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2430"/>
                          </a:solidFill>
                          <a:latin typeface="맑은 고딕"/>
                        </a:rPr>
                        <a:t>안전 물체를 안전으로 (102개)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E2430"/>
                          </a:solidFill>
                          <a:latin typeface="맑은 고딕"/>
                        </a:rPr>
                        <a:t>50 (49%)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E2430"/>
                          </a:solidFill>
                          <a:latin typeface="맑은 고딕"/>
                        </a:rPr>
                        <a:t>98 (96%)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2430"/>
                          </a:solidFill>
                          <a:latin typeface="맑은 고딕"/>
                        </a:rPr>
                        <a:t>위험↔안전 거꾸로 판정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E243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E243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2430"/>
                          </a:solidFill>
                          <a:latin typeface="맑은 고딕"/>
                        </a:rPr>
                        <a:t>없는 위험 보고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E2430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E2430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2430"/>
                          </a:solidFill>
                          <a:latin typeface="맑은 고딕"/>
                        </a:rPr>
                        <a:t>현장 확인 요청 (실제 물체)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E2430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E2430"/>
                          </a:solidFill>
                          <a:latin typeface="맑은 고딕"/>
                        </a:rPr>
                        <a:t>9 (5)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206240"/>
            <a:ext cx="6766560" cy="192024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84E92"/>
                </a:solidFill>
                <a:latin typeface="맑은 고딕"/>
              </a:rPr>
              <a:t>재확인과 점검표가 바디캠이 놓친 물체를 채움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재확인 105건 실행: 찾음 96, 판정 고침 2, 다른 CCTV 재시도 5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작업대 위 공구, 랙 끝 소화기처럼 경로에서 먼 물체를 CCTV 확대로 확인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확정 못 한 것은 숨기지 않고 '현장 확인' 으로 사람에게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589520" y="1234440"/>
          <a:ext cx="41148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914400"/>
                <a:gridCol w="914400"/>
                <a:gridCol w="777240"/>
                <a:gridCol w="777240"/>
              </a:tblGrid>
              <a:tr h="228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시드</a:t>
                      </a:r>
                    </a:p>
                  </a:txBody>
                  <a:tcPr marL="54864" marR="54864" marT="27432" marB="27432">
                    <a:solidFill>
                      <a:srgbClr val="284E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위험</a:t>
                      </a:r>
                    </a:p>
                  </a:txBody>
                  <a:tcPr marL="54864" marR="54864" marT="27432" marB="27432">
                    <a:solidFill>
                      <a:srgbClr val="284E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안전</a:t>
                      </a:r>
                    </a:p>
                  </a:txBody>
                  <a:tcPr marL="54864" marR="54864" marT="27432" marB="27432">
                    <a:solidFill>
                      <a:srgbClr val="284E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거꾸로</a:t>
                      </a:r>
                    </a:p>
                  </a:txBody>
                  <a:tcPr marL="54864" marR="54864" marT="27432" marB="27432">
                    <a:solidFill>
                      <a:srgbClr val="284E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재확인</a:t>
                      </a:r>
                    </a:p>
                  </a:txBody>
                  <a:tcPr marL="54864" marR="54864" marT="27432" marB="27432">
                    <a:solidFill>
                      <a:srgbClr val="284E92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4/6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12/12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9/9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8/9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4/5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11/12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7/9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8/8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7/9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9/9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13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5/7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10/10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12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4/6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11/11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4/5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11/12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10/10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6/7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4/6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12/12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430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589520" y="4206240"/>
            <a:ext cx="4114800" cy="192024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3A3A"/>
                </a:solidFill>
                <a:latin typeface="맑은 고딕"/>
              </a:rPr>
              <a:t>CCTV 접근 경고</a:t>
            </a:r>
          </a:p>
          <a:p>
            <a:pPr>
              <a:spcAft>
                <a:spcPts val="400"/>
              </a:spcAft>
            </a:pPr>
            <a:r>
              <a:rPr sz="3000" b="1">
                <a:solidFill>
                  <a:srgbClr val="1E2430"/>
                </a:solidFill>
                <a:latin typeface="맑은 고딕"/>
              </a:rPr>
              <a:t>8/12 건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A6370"/>
                </a:solidFill>
                <a:latin typeface="맑은 고딕"/>
              </a:rPr>
              <a:t>CCTV 에 보인 접근 사건 · 오경보 4번 · 거리 오차 0.29 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맑은 고딕"/>
              </a:rPr>
              <a:t>9. 한계, 발전 계획, 비즈니스 모델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3657600" cy="493776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D93A3A"/>
                </a:solidFill>
                <a:latin typeface="맑은 고딕"/>
              </a:rPr>
              <a:t>한계 (현장 적용 전 보완점)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합성 데이터만 사용, 실사 미검증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Isaac 6.0.1 torch 가 CPU 전용이라 시뮬 안 YOLO 는 CPU (실배치는 GPU·엣지)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놓친 접근 경고 4건은 모두 CCTV 에서 약 29 m 먼 북쪽 끝 (CCTV 추가 필요)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통로 바닥 작은 공구를 자주 놓침 (못 찾은 위험 14개 중 12개)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재확인 조건·우선순위는 규칙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움직이는 위험(지게차)은 아직 없음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0" y="1188720"/>
            <a:ext cx="3657600" cy="493776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284E92"/>
                </a:solidFill>
                <a:latin typeface="맑은 고딕"/>
              </a:rPr>
              <a:t>발전 계획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E2430"/>
                </a:solidFill>
                <a:latin typeface="맑은 고딕"/>
              </a:rPr>
              <a:t>1단계 실사 검증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실습실·창고 사진 수백 장으로 미세조정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E2430"/>
                </a:solidFill>
                <a:latin typeface="맑은 고딕"/>
              </a:rPr>
              <a:t>2단계 파일럿 (Level 4)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실제 CCTV 보정, 바디캠 1대 + PTZ 1대 현장 시험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E2430"/>
                </a:solidFill>
                <a:latin typeface="맑은 고딕"/>
              </a:rPr>
              <a:t>3단계 연동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MES·작업지시 연동, 조치 완료 피드백으로 기준 보정, 지게차 등 동적 위험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38160" y="1188720"/>
            <a:ext cx="3611880" cy="493776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2E9D5B"/>
                </a:solidFill>
                <a:latin typeface="맑은 고딕"/>
              </a:rPr>
              <a:t>비즈니스 모델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E2430"/>
                </a:solidFill>
                <a:latin typeface="맑은 고딕"/>
              </a:rPr>
              <a:t>대상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중소 물류창고·제조공장 (사고재해 40%가 5~49인 사업장)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E2430"/>
                </a:solidFill>
                <a:latin typeface="맑은 고딕"/>
              </a:rPr>
              <a:t>제공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기존 CCTV + 바디캠에 붙이는 소프트웨어 구독 (사업장·카메라 수 기준)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E2430"/>
                </a:solidFill>
                <a:latin typeface="맑은 고딕"/>
              </a:rPr>
              <a:t>차별점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디지털 트윈으로 그 현장의 위험 상태 데이터를 만들어 맞춤 학습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E2430"/>
                </a:solidFill>
                <a:latin typeface="맑은 고딕"/>
              </a:rPr>
              <a:t>기대효과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점검 누락·기록 공백 감소, 아차사고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11247120" cy="27432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A6370"/>
                </a:solidFill>
                <a:latin typeface="맑은 고딕"/>
              </a:rPr>
              <a:t>소스코드 https://github.com/HardLeona/factory-safety-isaac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세미나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imes New Roman">
      <a:majorFont>
        <a:latin typeface="Times New Roman"/>
        <a:ea typeface="맑은 고딕"/>
        <a:cs typeface=""/>
      </a:majorFont>
      <a:minorFont>
        <a:latin typeface="Times New Roman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세미나테마" id="{F0B14E78-0364-4296-861A-629154498883}" vid="{07BE5619-E2A8-4325-BCB2-DEE69878C6E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3a15c9d-774d-4af0-b424-7147cf508080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387AC41899E2314DB3F33A57F3E675E4" ma:contentTypeVersion="5" ma:contentTypeDescription="새 문서를 만듭니다." ma:contentTypeScope="" ma:versionID="5442152aa757d269e7b57bdcc402f88a">
  <xsd:schema xmlns:xsd="http://www.w3.org/2001/XMLSchema" xmlns:xs="http://www.w3.org/2001/XMLSchema" xmlns:p="http://schemas.microsoft.com/office/2006/metadata/properties" xmlns:ns3="93a15c9d-774d-4af0-b424-7147cf508080" targetNamespace="http://schemas.microsoft.com/office/2006/metadata/properties" ma:root="true" ma:fieldsID="8080863595fb95933745cc6f0b3666ad" ns3:_="">
    <xsd:import namespace="93a15c9d-774d-4af0-b424-7147cf508080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3a15c9d-774d-4af0-b424-7147cf508080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BA3B639-21EC-4D01-B646-909981BB6942}">
  <ds:schemaRefs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93a15c9d-774d-4af0-b424-7147cf508080"/>
    <ds:schemaRef ds:uri="http://purl.org/dc/terms/"/>
    <ds:schemaRef ds:uri="http://www.w3.org/XML/1998/namespace"/>
    <ds:schemaRef ds:uri="http://purl.org/dc/dcmitype/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2CBB20D9-2568-40C1-9307-0B58096BFFC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2E16F47-0E0C-45B4-8705-8D7638D6455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3a15c9d-774d-4af0-b424-7147cf50808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15543</TotalTime>
  <Words>13</Words>
  <Application>Microsoft Office PowerPoint</Application>
  <PresentationFormat>와이드스크린</PresentationFormat>
  <Paragraphs>11</Paragraphs>
  <Slides>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10" baseType="lpstr">
      <vt:lpstr>나눔고딕OTF</vt:lpstr>
      <vt:lpstr>맑은 고딕</vt:lpstr>
      <vt:lpstr>Arial</vt:lpstr>
      <vt:lpstr>Neue Haas Grotesk Text Pro</vt:lpstr>
      <vt:lpstr>Times New Roman</vt:lpstr>
      <vt:lpstr>세미나테마</vt:lpstr>
      <vt:lpstr>제목</vt:lpstr>
      <vt:lpstr>목차</vt:lpstr>
      <vt:lpstr>기반 페이지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군집알고리즘</dc:title>
  <dc:creator>박진우</dc:creator>
  <cp:lastModifiedBy>조 현준</cp:lastModifiedBy>
  <cp:revision>118</cp:revision>
  <dcterms:created xsi:type="dcterms:W3CDTF">2023-01-17T07:40:26Z</dcterms:created>
  <dcterms:modified xsi:type="dcterms:W3CDTF">2026-07-03T07:19:51Z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0x010100387AC41899E2314DB3F33A57F3E675E4</vt:lpwstr>
  </property>
  <property fmtid="{D5CDD505-2E9C-101B-9397-08002B2CF9AE}" pid="3" name="MediaServiceImageTags">
    <vt:lpwstr/>
  </property>
</Properties>
</file>