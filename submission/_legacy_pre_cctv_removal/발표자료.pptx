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9"/>
  </p:notesMasterIdLst>
  <p:sldIdLst>
    <p:sldId id="256" r:id="rId8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안진수" initials="안" lastIdx="1" clrIdx="0">
    <p:extLst>
      <p:ext uri="{19B8F6BF-5375-455C-9EA6-DF929625EA0E}">
        <p15:presenceInfo xmlns:p15="http://schemas.microsoft.com/office/powerpoint/2012/main" userId="S-1-5-21-3955691086-1346294097-4221883339-1001" providerId="AD"/>
      </p:ext>
    </p:extLst>
  </p:cmAuthor>
  <p:cmAuthor id="2" name="안진수" initials="안 [2]" lastIdx="1" clrIdx="1">
    <p:extLst>
      <p:ext uri="{19B8F6BF-5375-455C-9EA6-DF929625EA0E}">
        <p15:presenceInfo xmlns:p15="http://schemas.microsoft.com/office/powerpoint/2012/main" userId="S-1-5-21-3734627168-4085426799-134375040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C583"/>
    <a:srgbClr val="FFF2CC"/>
    <a:srgbClr val="BDD7EE"/>
    <a:srgbClr val="FFF2E5"/>
    <a:srgbClr val="C5E0B4"/>
    <a:srgbClr val="DE8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104" y="8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12FCC-E7C2-44E7-BC79-BEC4425EC29F}" type="datetimeFigureOut">
              <a:rPr lang="ko-KR" altLang="en-US" smtClean="0"/>
              <a:t>07-03(Fri)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ED80F-9EB0-418B-B195-38499BCA38F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932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7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80163" y="6460057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28C4F1-CE06-DE21-2147-0C51F80A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A8431-3640-4575-ABAE-11276775A2BC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EED45917-54A3-F40F-CC0C-4A2B7C956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0E14C4-0547-821F-272E-FA98630D8E33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1851F4-D407-484D-84BD-F09E883F71FD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Teams : 20233140</a:t>
            </a:r>
            <a:r>
              <a:rPr lang="en-US" altLang="ko-KR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@student.changwon.ac.kr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12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D2AF5FF9-5161-9722-EAA5-8F7090E52F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" y="6486208"/>
            <a:ext cx="368935" cy="382904"/>
          </a:xfrm>
          <a:prstGeom prst="rect">
            <a:avLst/>
          </a:prstGeom>
          <a:noFill/>
        </p:spPr>
      </p:pic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00258BFF-3E15-044F-9015-31A33DF88CA9}"/>
              </a:ext>
            </a:extLst>
          </p:cNvPr>
          <p:cNvSpPr txBox="1">
            <a:spLocks/>
          </p:cNvSpPr>
          <p:nvPr userDrawn="1"/>
        </p:nvSpPr>
        <p:spPr>
          <a:xfrm>
            <a:off x="9404838" y="65216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CEA8431-3640-4575-ABAE-11276775A2B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745F964-6756-F53C-609D-7A5C665F75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44855" y="333218"/>
            <a:ext cx="847145" cy="88194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C35C77F-A15A-4DA5-830F-8034FFE8CAA9}"/>
              </a:ext>
            </a:extLst>
          </p:cNvPr>
          <p:cNvSpPr/>
          <p:nvPr userDrawn="1"/>
        </p:nvSpPr>
        <p:spPr>
          <a:xfrm>
            <a:off x="-2540" y="-9998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393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Teams : 20233140</a:t>
            </a:r>
            <a:r>
              <a:rPr lang="en-US" altLang="ko-KR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@student.changwon.ac.kr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CEA8431-3640-4575-ABAE-11276775A2BC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/>
          <p:nvPr/>
        </p:nvCxnSpPr>
        <p:spPr>
          <a:xfrm>
            <a:off x="368935" y="942052"/>
            <a:ext cx="11823065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3544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7C66D9-DC8A-41C7-8F27-CA368F23BA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EA8431-3640-4575-ABAE-11276775A2B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816B11-62CD-4D9C-B44C-D0B84468D3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B42F72F-ABE7-4A4B-A720-ACFFC3C4C16C}" type="datetime1">
              <a:rPr lang="ko-KR" altLang="en-US" smtClean="0"/>
              <a:t>07-03(Fri)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Teams : 20233140</a:t>
            </a:r>
            <a:r>
              <a:rPr lang="en-US" altLang="ko-KR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@student.changwon.ac.kr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1255EB20-A9CA-4C0C-8093-6A6C781761C9}"/>
              </a:ext>
            </a:extLst>
          </p:cNvPr>
          <p:cNvSpPr txBox="1">
            <a:spLocks/>
          </p:cNvSpPr>
          <p:nvPr/>
        </p:nvSpPr>
        <p:spPr>
          <a:xfrm>
            <a:off x="9404838" y="65216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/>
          <p:nvPr/>
        </p:nvCxnSpPr>
        <p:spPr>
          <a:xfrm>
            <a:off x="368935" y="942052"/>
            <a:ext cx="11823065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B0B5DD2-84AA-4E6C-94FF-74FADA6CD60C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r>
              <a:rPr lang="ko-KR" altLang="en-US" sz="4000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207215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A8431-3640-4575-ABAE-11276775A2B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ED13A4-71FD-40F9-92B3-30DE71D39420}" type="datetime1">
              <a:rPr lang="ko-KR" altLang="en-US" smtClean="0"/>
              <a:t>07-03(Fri)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66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창고 안전 순찰 AI 에이전트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latin typeface="맑은 고딕"/>
              </a:rPr>
              <a:t>작업자 바디캠과 CCTV로 위험 요소를 판정·재확인하고, 손동작 명령에 작업자 언어로 답하는 피지컬 AI</a:t>
            </a:r>
          </a:p>
          <a:p/>
          <a:p>
            <a:r>
              <a:rPr sz="1800">
                <a:latin typeface="맑은 고딕"/>
              </a:rPr>
              <a:t>IBDP 팀 · 문상균, 이승혜, 조현준</a:t>
            </a:r>
          </a:p>
          <a:p>
            <a:r>
              <a:rPr sz="1800">
                <a:latin typeface="맑은 고딕"/>
              </a:rPr>
              <a:t>2026-10-06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51560"/>
            <a:ext cx="7589520" cy="41148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5A6370"/>
                </a:solidFill>
                <a:latin typeface="맑은 고딕"/>
              </a:rPr>
              <a:t>제4회 경남AI·SW경진대회 · ③ 제조·피지컬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1. 문제: 창고 순찰 점검은 사람 눈에 의존한다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3840480" cy="21031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6600" b="1">
                <a:solidFill>
                  <a:srgbClr val="D93A3A"/>
                </a:solidFill>
                <a:latin typeface="맑은 고딕"/>
              </a:rPr>
              <a:t>25.2%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370"/>
                </a:solidFill>
                <a:latin typeface="맑은 고딕"/>
              </a:rPr>
              <a:t>2025년 사고재해자 113,305명 중 넘어짐 28,606명, 재해 유형 1위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370"/>
                </a:solidFill>
                <a:latin typeface="맑은 고딕"/>
              </a:rPr>
              <a:t>(고용노동부 「2025년 산업재해 현황」)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3840480" cy="23774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84E92"/>
                </a:solidFill>
                <a:latin typeface="맑은 고딕"/>
              </a:rPr>
              <a:t>창고의 위험 요소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바닥 유출 → 미끄러짐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통로에 방치된 공구·자재 → 걸려 넘어짐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불안정 적재 → 무너짐·맞음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• 쓰러지거나 가로막힌 소화기 → 화재 초기 대응 실패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280160"/>
            <a:ext cx="6858000" cy="45720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284E92"/>
                </a:solidFill>
                <a:latin typeface="맑은 고딕"/>
              </a:rPr>
              <a:t>지금의 순찰 점검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82880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놓치기 쉽다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A6370"/>
                </a:solidFill>
                <a:latin typeface="맑은 고딕"/>
              </a:rPr>
              <a:t>작업자가 걸으며 눈으로만 확인. 잠깐 보고 지나친 것, 경로에서 먼 것은 빠짐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324612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기록이 남지 않는다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A6370"/>
                </a:solidFill>
                <a:latin typeface="맑은 고딕"/>
              </a:rPr>
              <a:t>무엇을 어디서 어떤 근거로 위험하다고 봤는지 남지 않아 조치 지시와 추적이 어려움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663440"/>
            <a:ext cx="6858000" cy="12344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1E2430"/>
                </a:solidFill>
                <a:latin typeface="맑은 고딕"/>
              </a:rPr>
              <a:t>다가가는 순간을 모른다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5A6370"/>
                </a:solidFill>
                <a:latin typeface="맑은 고딕"/>
              </a:rPr>
              <a:t>작업자가 위험물 바로 옆을 지나가는 아차사고를 관리자가 알 수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2. 해결: 판정·경고하고 작업자 언어로 답하는 AI 에이전트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8229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E2430"/>
                </a:solidFill>
                <a:latin typeface="맑은 고딕"/>
              </a:rPr>
              <a:t>바디캠과 CCTV 로 위험/안전과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공구 이름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을 판정하고, 애매한 것은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CCTV 를 골라 확대해 다시 확인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한다.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위험 영역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에 닿기 직전이면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음성으로 경고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하고, 작업자가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손가락 1~5개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를 보이면 </a:t>
            </a:r>
            <a:r>
              <a:rPr sz="1500" b="1">
                <a:solidFill>
                  <a:srgbClr val="1E2430"/>
                </a:solidFill>
                <a:latin typeface="맑은 고딕"/>
              </a:rPr>
              <a:t>작업자 언어</a:t>
            </a:r>
            <a:r>
              <a:rPr sz="1500" b="0">
                <a:solidFill>
                  <a:srgbClr val="1E2430"/>
                </a:solidFill>
                <a:latin typeface="맑은 고딕"/>
              </a:rPr>
              <a:t>로 안내·호출·SOS 를 처리한다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11064240" cy="17873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114800"/>
            <a:ext cx="1773936" cy="1737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① 판정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위험/안전 상태
공구 이름 8종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14016" y="4114800"/>
            <a:ext cx="1773936" cy="1737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② 확대 재확인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CCTV 선택 → PTZ
재시도 → 현장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9392" y="4114800"/>
            <a:ext cx="1773936" cy="1737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3A3A"/>
                </a:solidFill>
                <a:latin typeface="맑은 고딕"/>
              </a:rPr>
              <a:t>③ 위험 영역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라바콘·DANGER 표지
스스로 판단한 주변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4114800"/>
            <a:ext cx="1773936" cy="1737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9B4DCA"/>
                </a:solidFill>
                <a:latin typeface="맑은 고딕"/>
              </a:rPr>
              <a:t>④ 음성 경고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"경고 경고 위험
요소가 식별되었습니다"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4114800"/>
            <a:ext cx="1773936" cy="1737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A7CC4"/>
                </a:solidFill>
                <a:latin typeface="맑은 고딕"/>
              </a:rPr>
              <a:t>⑤ 손동작 명령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손가락 1~5 → LLM 판단
중·영·일 음성 안내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75519" y="4114800"/>
            <a:ext cx="1773936" cy="1737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E9D5B"/>
                </a:solidFill>
                <a:latin typeface="맑은 고딕"/>
              </a:rPr>
              <a:t>⑥ 조치 지시서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우선순위·위치
영역 지도와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370"/>
                </a:solidFill>
                <a:latin typeface="맑은 고딕"/>
              </a:rPr>
              <a:t>로봇 없이 바디캠(스피커)과 기존 CCTV(PTZ) 만으로 동작 · 위험 데이터는 디지털 트윈에서 합성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3. 에이전트 구조 (Goal · Plan · Reasoning · Tool · Memory · Feedback)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239299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5349240"/>
          <a:ext cx="1124711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19"/>
                <a:gridCol w="1874519"/>
                <a:gridCol w="1874519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Goal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Planning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Reasoning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Tool Use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Memory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Feedback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판정, 위험 영역, 경고, 작업자 요청 응답, 조치 지시서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도면으로 점검표 8곳, 지점별 CCTV 계산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재확인 대상, 공구 자리, 영역 설정, 경고 시점, 손동작 → 명령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바디캠·CCTV·PTZ, 손 인식, LLM(Qwen2.5-7B)이 부르는 도구, 음성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위험물 대장, 위험 영역, 경고·요청 기록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430"/>
                          </a:solidFill>
                          <a:latin typeface="맑은 고딕"/>
                        </a:rPr>
                        <a:t>판정 수정, 재시도, 현장 확인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4. 디지털 트윈과 학습 데이터</a:t>
            </a:r>
          </a:p>
        </p:txBody>
      </p:sp>
      <p:pic>
        <p:nvPicPr>
          <p:cNvPr id="3" name="Picture 2" descr="fig_z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086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343400"/>
            <a:ext cx="548640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NVIDIA Isaac Sim 6.0 실사 창고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NVIDIA 소품 (소화기, 표지판, 라바콘, 상자, 팔레트, 작업자)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Poly Haven 실물 스캔 공구 (CC0) + 직접 만든 전동톱, DANGER 표지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Replicator 로 정답 박스 자동 생성, 정답표로 채점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188720"/>
          <a:ext cx="53949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1168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종류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위험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안전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바닥 유출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조치 없음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표지판·라바콘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공구 8종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통로 바닥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작업대 위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적재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기울어짐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반듯함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소화기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쓰러짐 / 가로막힘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제자리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영역 표시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430"/>
                          </a:solidFill>
                          <a:latin typeface="맑은 고딕"/>
                        </a:rPr>
                        <a:t>라바콘 링, DANGER 표지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3246120"/>
            <a:ext cx="5394960" cy="28346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합성 데이터 7700장 → YOLO26s 19 클래스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일반 촬영 5000장 + 공구 가까이 1500장 + 운반 카트 1200장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바디캠·CCTV·자유 시점, 조명·흔들림 무작위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같은 종류를 위험/안전 상태로 함께 배치 → 상태를 학습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공구 8종·운반 카트는 종류로, 공구 위험/안전은 놓인 자리로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검증 mAP50 </a:t>
            </a:r>
            <a:r>
              <a:rPr sz="1300" b="1">
                <a:solidFill>
                  <a:srgbClr val="1E2430"/>
                </a:solidFill>
                <a:latin typeface="맑은 고딕"/>
              </a:rPr>
              <a:t>0.898</a:t>
            </a:r>
            <a:r>
              <a:rPr sz="1300" b="0">
                <a:solidFill>
                  <a:srgbClr val="1E2430"/>
                </a:solidFill>
                <a:latin typeface="맑은 고딕"/>
              </a:rPr>
              <a:t> (mAP50-95 0.689)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5. 핵심 구현 ①  판정, 위험 영역, 음성 경고</a:t>
            </a:r>
          </a:p>
        </p:txBody>
      </p:sp>
      <p:pic>
        <p:nvPicPr>
          <p:cNvPr id="3" name="Picture 2" descr="fig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577840" cy="3137535"/>
          </a:xfrm>
          <a:prstGeom prst="rect">
            <a:avLst/>
          </a:prstGeom>
        </p:spPr>
      </p:pic>
      <p:pic>
        <p:nvPicPr>
          <p:cNvPr id="4" name="Picture 3" descr="fig_zon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5577840" cy="3137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34840"/>
            <a:ext cx="557784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바디캠 판정 + 공구 이름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ByteTrack 추적으로 같은 물체 판정을 모아 3프레임이면 확정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공구는 망치·삽 등 이름까지, 놓인 자리로 위험(바닥)/안전(작업대)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박스를 바닥에 투영해 위치 → 위험물 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4434840"/>
            <a:ext cx="5577840" cy="173736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D93A3A"/>
                </a:solidFill>
                <a:latin typeface="맑은 고딕"/>
              </a:rPr>
              <a:t>위험 영역과 음성 경고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라바콘 2개 이상 묶음, DANGER 표지, 유출·불안정 적재 주변 → 영역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작업자가 위험물 1 m·영역 0.5 m 안 → "경고 경고 위험 요소가 식별되었습니다"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CCTV 는 2 m 접근 경고 (거리 오차 중앙값 0.29 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6. 핵심 구현 ②  CCTV 선택·확대 재확인과 조치 지시서</a:t>
            </a:r>
          </a:p>
        </p:txBody>
      </p:sp>
      <p:pic>
        <p:nvPicPr>
          <p:cNvPr id="3" name="Picture 2" descr="fig_pt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120640" cy="2880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5120640" cy="21031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언제 재확인하나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바디캠에 1~2프레임만 보이고 지나감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판정 표 1등 70% 미만 (엇갈림) · CCTV 경고로 처음 본 물체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순찰이 끝나도 못 본 점검 지점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08A00"/>
                </a:solidFill>
                <a:latin typeface="맑은 고딕"/>
              </a:rPr>
              <a:t>어떻게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랙·기둥·적재물 가림, 거리로 CCTV 선택 → PTZ 확대 2장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못 찾거나 확신 50% 미만 → 다른 CCTV → 현장 확인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• 확대 화면 위치로 대장 위치 보정, 중복 병합</a:t>
            </a:r>
          </a:p>
        </p:txBody>
      </p:sp>
      <p:pic>
        <p:nvPicPr>
          <p:cNvPr id="5" name="Picture 4" descr="fig_dashboard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188720"/>
            <a:ext cx="5897880" cy="2801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0" y="5806440"/>
            <a:ext cx="5897880" cy="41148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370"/>
                </a:solidFill>
                <a:latin typeface="맑은 고딕"/>
              </a:rPr>
              <a:t>조치 지시서: 평면도(번호 = 우선순위, 빨간 영역 = 위험 영역), 조치 목록, 음성 경고 기록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7. 핵심 구현 ③  손동작 명령 → 작업자 언어 안내</a:t>
            </a:r>
          </a:p>
        </p:txBody>
      </p:sp>
      <p:pic>
        <p:nvPicPr>
          <p:cNvPr id="3" name="Picture 2" descr="fig_gest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1527734"/>
          </a:xfrm>
          <a:prstGeom prst="rect">
            <a:avLst/>
          </a:prstGeom>
        </p:spPr>
      </p:pic>
      <p:pic>
        <p:nvPicPr>
          <p:cNvPr id="4" name="Picture 3" descr="fig_ges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29000"/>
            <a:ext cx="4572000" cy="25717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257800" y="3383280"/>
            <a:ext cx="3291840" cy="26974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어떻게 처리하나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맑은 고딕"/>
              </a:rPr>
              <a:t>• MediaPipe 손 관절 21점 → 손가락 1~5, 멈춘 손에서 3번 연속이면 명령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맑은 고딕"/>
              </a:rPr>
              <a:t>• LangGraph + 로컬 Qwen2.5-7B 가 도구 (화면 물체, 장비 정보, 위험물 대장, TBM) 로 보고 무엇을 말할지·근거 결정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E2430"/>
                </a:solidFill>
                <a:latin typeface="맑은 고딕"/>
              </a:rPr>
              <a:t>• 말은 검수한 4개 언어 문장 틀 (번역기는 '안전화→seat belt' 처럼 틀림)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3383280"/>
            <a:ext cx="2971800" cy="269748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결과</a:t>
            </a:r>
          </a:p>
          <a:p>
            <a:pPr>
              <a:spcAft>
                <a:spcPts val="400"/>
              </a:spcAft>
            </a:pPr>
            <a:r>
              <a:rPr sz="3000" b="1">
                <a:solidFill>
                  <a:srgbClr val="1E2430"/>
                </a:solidFill>
                <a:latin typeface="맑은 고딕"/>
              </a:rPr>
              <a:t>37/40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370"/>
                </a:solidFill>
                <a:latin typeface="맑은 고딕"/>
              </a:rPr>
              <a:t>경로 8곳·조명 바꿔 손가락 1~5, 다른 명령 3번, 움직이는 손 잘못 실행 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430"/>
                </a:solidFill>
                <a:latin typeface="맑은 고딕"/>
              </a:rPr>
              <a:t>시연 4/4 · English · LLM 결정 4/4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A6370"/>
                </a:solidFill>
                <a:latin typeface="맑은 고딕"/>
              </a:rPr>
              <a:t>시연 영상 (2분 40초): TBM(3) → 순찰·판정 → 운반 카트 설명(1) → 상자 싣고 끌기 → 공장 위험 스캔(2) → 관리자 호출(4) → 조치 지시서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8. 성과: 학습에 안 쓴 시나리오 10개, 정답표 채점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34440"/>
          <a:ext cx="67665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7373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창고 전체 물체 기준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바디캠만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에이전트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위험 물체를 위험으로 (92개)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71 (77%)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E2430"/>
                          </a:solidFill>
                          <a:latin typeface="맑은 고딕"/>
                        </a:rPr>
                        <a:t>83 (90%)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안전 물체를 안전으로 (81개)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33 (41%)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E2430"/>
                          </a:solidFill>
                          <a:latin typeface="맑은 고딕"/>
                        </a:rPr>
                        <a:t>78 (96%)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위험↔안전 거꾸로 판정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없는 위험 보고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11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현장 확인 요청 (실제 물체)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E2430"/>
                          </a:solidFill>
                          <a:latin typeface="맑은 고딕"/>
                        </a:rPr>
                        <a:t>8 (7)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931920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5603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새 기능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 marL="54864" marR="54864" marT="27432" marB="27432">
                    <a:solidFill>
                      <a:srgbClr val="284E9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위험 영역 (라바콘·DANGER 표지) 인식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20/20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(100%)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에이전트가 판단한 위험 영역 (실제 위험 주변)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43 (40)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닿기 직전 사건에 음성 경고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29/37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(78%)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공구 이름 맞힘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40/75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(53%)</a:t>
                      </a:r>
                    </a:p>
                  </a:txBody>
                  <a:tcPr marL="54864" marR="54864" marT="27432" marB="27432">
                    <a:solidFill>
                      <a:srgbClr val="EEF2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손동작 명령 인식 (손가락 1~5)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430"/>
                          </a:solidFill>
                          <a:latin typeface="맑은 고딕"/>
                        </a:rPr>
                        <a:t>37/40</a:t>
                      </a:r>
                      <a:r>
                        <a:rPr sz="1300" b="0">
                          <a:solidFill>
                            <a:srgbClr val="1E2430"/>
                          </a:solidFill>
                          <a:latin typeface="맑은 고딕"/>
                        </a:rPr>
                        <a:t> (92%)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234440"/>
            <a:ext cx="4114800" cy="23774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84E92"/>
                </a:solidFill>
                <a:latin typeface="맑은 고딕"/>
              </a:rPr>
              <a:t>재확인과 점검표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재확인 113건: 찾음 98, 판정 고침 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작업대 위 공구, 랙 끝 소화기처럼 경로에서 먼 물체를 CCTV 확대로 확인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확정 못 한 것은 '현장 확인' 으로 사람에게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3840480"/>
            <a:ext cx="4114800" cy="2286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D93A3A"/>
                </a:solidFill>
                <a:latin typeface="맑은 고딕"/>
              </a:rPr>
              <a:t>CCTV 접근 경고</a:t>
            </a:r>
          </a:p>
          <a:p>
            <a:pPr>
              <a:spcAft>
                <a:spcPts val="400"/>
              </a:spcAft>
            </a:pPr>
            <a:r>
              <a:rPr sz="3000" b="1">
                <a:solidFill>
                  <a:srgbClr val="1E2430"/>
                </a:solidFill>
                <a:latin typeface="맑은 고딕"/>
              </a:rPr>
              <a:t>24/27 건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5A6370"/>
                </a:solidFill>
                <a:latin typeface="맑은 고딕"/>
              </a:rPr>
              <a:t>오경보 6번 · 거리 오차 0.29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9. 한계, 발전 계획, 비즈니스 모델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93A3A"/>
                </a:solidFill>
                <a:latin typeface="맑은 고딕"/>
              </a:rPr>
              <a:t>한계 (현장 적용 전 보완점)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합성 데이터만 사용, 실사 미검증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작은 공구를 놓침 (못 찾은 위험 9개 중 6개가 바닥 공구)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Isaac 6.0.1 torch 가 CPU 전용이라 시뮬 안 YOLO 는 CPU (실배치는 GPU·엣지)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영역 크기·경고 거리·재확인 조건은 규칙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손동작은 시뮬 맨손만, 다국어 음성은 온라인 TTS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• 움직이는 위험(지게차)은 아직 없음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18872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84E92"/>
                </a:solidFill>
                <a:latin typeface="맑은 고딕"/>
              </a:rPr>
              <a:t>발전 계획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1단계 실사 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실습실·창고 사진으로 미세조정, 실제 라바콘·표지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2단계 파일럿 (Level 4)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바디캠(스피커) 1대 + PTZ 1대 현장 시험, CCTV 보정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3단계 연동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MES·작업지시 연동, 조치 완료 피드백으로 기준 보정, 지게차 등 동적 위험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188720"/>
            <a:ext cx="3611880" cy="49377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E9D5B"/>
                </a:solidFill>
                <a:latin typeface="맑은 고딕"/>
              </a:rPr>
              <a:t>비즈니스 모델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대상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중소 물류창고·제조공장 (사고재해 40%가 5~49인 사업장)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제공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기존 CCTV + 바디캠에 붙이는 소프트웨어 구독 (사업장·카메라 수 기준)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차별점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현장 표시(라바콘·표지)를 그대로 위험 영역으로 읽고, 디지털 트윈으로 그 현장 데이터를 만들어 학습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430"/>
                </a:solidFill>
                <a:latin typeface="맑은 고딕"/>
              </a:rPr>
              <a:t>기대효과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430"/>
                </a:solidFill>
                <a:latin typeface="맑은 고딕"/>
              </a:rPr>
              <a:t>점검 누락·기록 공백 감소, 닿기 전 경고로 아차사고 예방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370"/>
                </a:solidFill>
                <a:latin typeface="맑은 고딕"/>
              </a:rPr>
              <a:t>소스코드 https://github.com/HardLeona/factory-safety-isaac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a15c9d-774d-4af0-b424-7147cf5080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87AC41899E2314DB3F33A57F3E675E4" ma:contentTypeVersion="5" ma:contentTypeDescription="새 문서를 만듭니다." ma:contentTypeScope="" ma:versionID="5442152aa757d269e7b57bdcc402f88a">
  <xsd:schema xmlns:xsd="http://www.w3.org/2001/XMLSchema" xmlns:xs="http://www.w3.org/2001/XMLSchema" xmlns:p="http://schemas.microsoft.com/office/2006/metadata/properties" xmlns:ns3="93a15c9d-774d-4af0-b424-7147cf508080" targetNamespace="http://schemas.microsoft.com/office/2006/metadata/properties" ma:root="true" ma:fieldsID="8080863595fb95933745cc6f0b3666ad" ns3:_="">
    <xsd:import namespace="93a15c9d-774d-4af0-b424-7147cf50808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15c9d-774d-4af0-b424-7147cf50808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A3B639-21EC-4D01-B646-909981BB6942}">
  <ds:schemaRefs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3a15c9d-774d-4af0-b424-7147cf508080"/>
    <ds:schemaRef ds:uri="http://purl.org/dc/terms/"/>
    <ds:schemaRef ds:uri="http://www.w3.org/XML/1998/namespace"/>
    <ds:schemaRef ds:uri="http://purl.org/dc/dcmitype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CBB20D9-2568-40C1-9307-0B58096BFF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E16F47-0E0C-45B4-8705-8D7638D64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a15c9d-774d-4af0-b424-7147cf5080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15543</TotalTime>
  <Words>13</Words>
  <Application>Microsoft Office PowerPoint</Application>
  <PresentationFormat>와이드스크린</PresentationFormat>
  <Paragraphs>11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나눔고딕OTF</vt:lpstr>
      <vt:lpstr>맑은 고딕</vt:lpstr>
      <vt:lpstr>Arial</vt:lpstr>
      <vt:lpstr>Neue Haas Grotesk Text Pro</vt:lpstr>
      <vt:lpstr>Times New Roman</vt:lpstr>
      <vt:lpstr>세미나테마</vt:lpstr>
      <vt:lpstr>제목</vt:lpstr>
      <vt:lpstr>목차</vt:lpstr>
      <vt:lpstr>기반 페이지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군집알고리즘</dc:title>
  <dc:creator>박진우</dc:creator>
  <cp:lastModifiedBy>조 현준</cp:lastModifiedBy>
  <cp:revision>118</cp:revision>
  <dcterms:created xsi:type="dcterms:W3CDTF">2023-01-17T07:40:26Z</dcterms:created>
  <dcterms:modified xsi:type="dcterms:W3CDTF">2026-07-03T07:19:51Z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0x010100387AC41899E2314DB3F33A57F3E675E4</vt:lpwstr>
  </property>
  <property fmtid="{D5CDD505-2E9C-101B-9397-08002B2CF9AE}" pid="3" name="MediaServiceImageTags">
    <vt:lpwstr/>
  </property>
</Properties>
</file>